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c1763b79d44781" /><Relationship Type="http://schemas.openxmlformats.org/officeDocument/2006/relationships/extended-properties" Target="/docProps/app.xml" Id="Rc36366ecd69840a4" /><Relationship Type="http://schemas.openxmlformats.org/officeDocument/2006/relationships/officeDocument" Target="/ppt/presentation.xml" Id="R7ae57e43bc1c4aaa" /></Relationships>
</file>

<file path=ppt/presentation.xml><?xml version="1.0" encoding="utf-8"?>
<p:presentation xmlns:p="http://schemas.openxmlformats.org/presentationml/2006/main">
  <p:sldMasterIdLst>
    <p:sldMasterId xmlns:r="http://schemas.openxmlformats.org/officeDocument/2006/relationships" id="2147483648" r:id="R38b439e8c0fb4834"/>
  </p:sldMasterIdLst>
  <p:notesMasterIdLst>
    <p:notesMasterId xmlns:r="http://schemas.openxmlformats.org/officeDocument/2006/relationships" r:id="R0740fb7593634582"/>
  </p:notesMasterIdLst>
  <p:sldIdLst>
    <p:sldId xmlns:r="http://schemas.openxmlformats.org/officeDocument/2006/relationships" id="256" r:id="Rc9f8ed661a974a3f"/>
    <p:sldId xmlns:r="http://schemas.openxmlformats.org/officeDocument/2006/relationships" id="257" r:id="Rabf47debc67742b8"/>
    <p:sldId xmlns:r="http://schemas.openxmlformats.org/officeDocument/2006/relationships" id="258" r:id="R3b3750eb47bd4cdf"/>
    <p:sldId xmlns:r="http://schemas.openxmlformats.org/officeDocument/2006/relationships" id="259" r:id="Ra303f2e5a739473a"/>
    <p:sldId xmlns:r="http://schemas.openxmlformats.org/officeDocument/2006/relationships" id="260" r:id="Rae575f8c2baa4e7f"/>
    <p:sldId xmlns:r="http://schemas.openxmlformats.org/officeDocument/2006/relationships" id="261" r:id="R481578b5374f40bc"/>
    <p:sldId xmlns:r="http://schemas.openxmlformats.org/officeDocument/2006/relationships" id="262" r:id="R8c7df0c813fc49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ea0ba0bf7f4eca" /><Relationship Type="http://schemas.openxmlformats.org/officeDocument/2006/relationships/slideMaster" Target="/ppt/slideMasters/slideMaster1.xml" Id="R38b439e8c0fb4834" /><Relationship Type="http://schemas.openxmlformats.org/officeDocument/2006/relationships/notesMaster" Target="/ppt/notesMasters/notesMaster1.xml" Id="R0740fb7593634582" /><Relationship Type="http://schemas.openxmlformats.org/officeDocument/2006/relationships/presProps" Target="/ppt/presProps.xml" Id="Re31f3f864bad4843" /><Relationship Type="http://schemas.openxmlformats.org/officeDocument/2006/relationships/tableStyles" Target="/ppt/tableStyles.xml" Id="Rd8d8301227ee4c30" /><Relationship Type="http://schemas.openxmlformats.org/officeDocument/2006/relationships/slide" Target="/ppt/slides/slide1.xml" Id="Rc9f8ed661a974a3f" /><Relationship Type="http://schemas.openxmlformats.org/officeDocument/2006/relationships/slide" Target="/ppt/slides/slide2.xml" Id="Rabf47debc67742b8" /><Relationship Type="http://schemas.openxmlformats.org/officeDocument/2006/relationships/slide" Target="/ppt/slides/slide3.xml" Id="R3b3750eb47bd4cdf" /><Relationship Type="http://schemas.openxmlformats.org/officeDocument/2006/relationships/slide" Target="/ppt/slides/slide4.xml" Id="Ra303f2e5a739473a" /><Relationship Type="http://schemas.openxmlformats.org/officeDocument/2006/relationships/slide" Target="/ppt/slides/slide5.xml" Id="Rae575f8c2baa4e7f" /><Relationship Type="http://schemas.openxmlformats.org/officeDocument/2006/relationships/slide" Target="/ppt/slides/slide6.xml" Id="R481578b5374f40bc" /><Relationship Type="http://schemas.openxmlformats.org/officeDocument/2006/relationships/slide" Target="/ppt/slides/slide7.xml" Id="R8c7df0c813fc49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d4a3e8b0af42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6ad646e7594614" /><Relationship Type="http://schemas.openxmlformats.org/officeDocument/2006/relationships/notesMaster" Target="/ppt/notesMasters/notesMaster1.xml" Id="Ra0fe9167003b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1f01de4bfe4ef3" /><Relationship Type="http://schemas.openxmlformats.org/officeDocument/2006/relationships/notesMaster" Target="/ppt/notesMasters/notesMaster1.xml" Id="Raedd7836eae24a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1ce2abcefb428c" /><Relationship Type="http://schemas.openxmlformats.org/officeDocument/2006/relationships/notesMaster" Target="/ppt/notesMasters/notesMaster1.xml" Id="R5e6cb90901574a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ab0f4817d446c3" /><Relationship Type="http://schemas.openxmlformats.org/officeDocument/2006/relationships/notesMaster" Target="/ppt/notesMasters/notesMaster1.xml" Id="Rdaa8e4b192fa43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1125598b964f7d" /><Relationship Type="http://schemas.openxmlformats.org/officeDocument/2006/relationships/notesMaster" Target="/ppt/notesMasters/notesMaster1.xml" Id="R1467a8f20c034b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23148484124001" /><Relationship Type="http://schemas.openxmlformats.org/officeDocument/2006/relationships/notesMaster" Target="/ppt/notesMasters/notesMaster1.xml" Id="R5013137887ad43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bcfa10faf54731" /><Relationship Type="http://schemas.openxmlformats.org/officeDocument/2006/relationships/notesMaster" Target="/ppt/notesMasters/notesMaster1.xml" Id="R49530a05fde744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question: may lawyers collectively refuse to defend someone because of the accusation or public reaction? This presentation focuses on the Supreme Court's ethics ruling in the connected civil appeals in A.S. Mohammed Rafi v. State of Tamil Nadu. Source: Supreme Court judgment, https://indiankanoon.org/doc/153132263/; course journal case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judgment is a combined decision. The criminal appeal by A.S. Mohammed Rafi had its own disposition. The professional ethics declaration arose in connected civil appeals, after the Court noted that the Coimbatore Bar Association had resolved that no member would defend accused policemen in the criminal case against them. Source: Supreme Court judgment, paras 7–15,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Supreme Court recorded the resolution as one refusing representation to accused policemen. It then placed that incident in the wider context of similar resolutions against persons accused of heinous crimes or other unpopular accused. The core issue is the legality and ethical propriety of a collective boycott. Source: judgment, paras 14–16 and 30–32,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Court quoted Article 22(1) of the Constitution and Chapter II of the Bar Council of India Rules. The Rule says an advocate is bound to accept a brief at a fee consistent with standing and the nature of the case, while special circumstances may justify refusal. The holding invalidated association-wide resolutions; it does not mean every lawyer must accept every brief in all circumstances. Source: judgment, paras 30–32,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two results. In Criminal Appeal No. 2310 of 2010, the Supreme Court directed total compensation of Rs 1,50,000 (noting Rs 50,000 had already been paid), quashed FIR 2105 against Rafi, and quashed FIR 2106 against the police under Article 142. In connected Civil Appeals 10304–10308 of 2010, it quashed the High Court's observations against the Coimbatore Bar Association and made its broader declaration against boycott resolutions. Source: judgment, paras 7–10 and 12–34,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Bar Association cannot pass a resolution preventing all its members from defending a particular accused or category of accused. The lawyer's role is distinct from that of the judge: the lawyer supports lawful process, not social approval. The BCI Rule allows special circumstances for individual refusal; the Court rejects collective coercion. Source: judgment, paras 16, 30–33, https://indiankanoon.org/doc/153132263/.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distinction: the judgment rejects collective boycott resolutions; it does not erase the Rule's allowance for special circumstances in an individual advocate's decision. Ask whether personal refusal and collective coercion raise the same ethical concern. Citation: A.S. Mohammed Rafi v. State of Tamil Nadu, (2011) 1 SCC 688; AIR 2011 SC 308; decided 6 December 2010; Markandey Katju and Gyan Sudha Misra, JJ. Source: https://indiankanoon.org/doc/153132263/; course journal case note.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5f1186d45445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d419d0569643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21d531d2ab4b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0f31cc6b0540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a532956aea45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741f157fd046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455F91-E220-472E-A824-EB942EFFB8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14F52B-2D1C-4092-9040-726586A794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B5706B-D4D4-4CB0-A0A5-485B90763F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FB4163-7B74-4084-B748-39FD16A27F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5991E0-AE40-467F-AEF0-E0F5BBAAEB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9CE95C-F715-4D35-AD42-158ECCD8B0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215935-84E2-4631-A311-A8CDCC106B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FD6E78-8F5B-40C5-B2D0-92A4E6E46F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26F1EB-973A-48F2-891F-F5131D8246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5E9590-72A9-4556-B7F2-322ED3A777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3e682592c94b52" /><Relationship Type="http://schemas.openxmlformats.org/officeDocument/2006/relationships/slideLayout" Target="/ppt/slideLayouts/slideLayout1.xml" Id="R7361472a9ac74bab" /><Relationship Type="http://schemas.openxmlformats.org/officeDocument/2006/relationships/slideLayout" Target="/ppt/slideLayouts/slideLayout2.xml" Id="R74b450953c8446f3" /><Relationship Type="http://schemas.openxmlformats.org/officeDocument/2006/relationships/slideLayout" Target="/ppt/slideLayouts/slideLayout3.xml" Id="R199b841393e940af" /><Relationship Type="http://schemas.openxmlformats.org/officeDocument/2006/relationships/slideLayout" Target="/ppt/slideLayouts/slideLayout4.xml" Id="Ra14c1ccdaa194fed" /><Relationship Type="http://schemas.openxmlformats.org/officeDocument/2006/relationships/slideLayout" Target="/ppt/slideLayouts/slideLayout5.xml" Id="R70c42c55ce194d02" /><Relationship Type="http://schemas.openxmlformats.org/officeDocument/2006/relationships/slideLayout" Target="/ppt/slideLayouts/slideLayout6.xml" Id="R4eb82f034e6344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61472a9ac74bab"/>
    <p:sldLayoutId xmlns:r="http://schemas.openxmlformats.org/officeDocument/2006/relationships" id="2147483650" r:id="R74b450953c8446f3"/>
    <p:sldLayoutId xmlns:r="http://schemas.openxmlformats.org/officeDocument/2006/relationships" id="2147483651" r:id="R199b841393e940af"/>
    <p:sldLayoutId xmlns:r="http://schemas.openxmlformats.org/officeDocument/2006/relationships" id="2147483652" r:id="Ra14c1ccdaa194fed"/>
    <p:sldLayoutId xmlns:r="http://schemas.openxmlformats.org/officeDocument/2006/relationships" id="2147483653" r:id="R70c42c55ce194d02"/>
    <p:sldLayoutId xmlns:r="http://schemas.openxmlformats.org/officeDocument/2006/relationships" id="2147483654" r:id="R4eb82f034e6344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28473d69abb43ef" /><Relationship Type="http://schemas.openxmlformats.org/officeDocument/2006/relationships/notesSlide" Target="/ppt/notesSlides/notesSlide1.xml" Id="R712fc4925e16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3bcda34754426f" /><Relationship Type="http://schemas.openxmlformats.org/officeDocument/2006/relationships/notesSlide" Target="/ppt/notesSlides/notesSlide2.xml" Id="R28ecc51fe13d4b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a4467840764d90" /><Relationship Type="http://schemas.openxmlformats.org/officeDocument/2006/relationships/notesSlide" Target="/ppt/notesSlides/notesSlide3.xml" Id="R4244dbcc38c148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6e448868794d0a" /><Relationship Type="http://schemas.openxmlformats.org/officeDocument/2006/relationships/notesSlide" Target="/ppt/notesSlides/notesSlide4.xml" Id="Rd9bbeebe897d4f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f55e2f31754b46" /><Relationship Type="http://schemas.openxmlformats.org/officeDocument/2006/relationships/notesSlide" Target="/ppt/notesSlides/notesSlide5.xml" Id="R1e88d47153ea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0d3210a1874ba2" /><Relationship Type="http://schemas.openxmlformats.org/officeDocument/2006/relationships/notesSlide" Target="/ppt/notesSlides/notesSlide6.xml" Id="R71492be7b2084b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117bb4d0694421" /><Relationship Type="http://schemas.openxmlformats.org/officeDocument/2006/relationships/notesSlide" Target="/ppt/notesSlides/notesSlide7.xml" Id="R74400dd5b7d548b4" /></Relationships>
</file>

<file path=ppt/slides/slide1.xml><?xml version="1.0" encoding="utf-8"?>
<p:sld xmlns:p="http://schemas.openxmlformats.org/presentationml/2006/main">
  <p:cSld>
    <p:bg>
      <p:bgPr>
        <a:solidFill xmlns:a="http://schemas.openxmlformats.org/drawingml/2006/main">
          <a:srgbClr val="17242B"/>
        </a:solidFill>
      </p:bgPr>
    </p:bg>
    <p:spTree>
      <p:nvGrpSpPr>
        <p:cNvPr id="1" name=""/>
        <p:cNvGrpSpPr/>
        <p:nvPr/>
      </p:nvGrpSpPr>
      <p:grpSpPr>
        <a:xfrm xmlns:a="http://schemas.openxmlformats.org/drawingml/2006/main"/>
      </p:grpSpPr>
      <p:sp>
        <p:nvSpPr>
          <p:cNvPr id="9" name="cover-accent">
            <a:extLst xmlns:a="http://schemas.openxmlformats.org/drawingml/2006/main">
              <a:ext uri="{FF2B5EF4-FFF2-40B4-BE49-F238E27FC236}">
                <a16:creationId xmlns:a16="http://schemas.microsoft.com/office/drawing/2014/main" id="{EFE5F9A5-E3FF-4672-AC6F-398B67079EA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EC7F2BF0-F6C3-4042-81B6-196ABA3D673C}"/>
              </a:ext>
            </a:extLst>
          </p:cNvPr>
          <p:cNvSpPr>
            <a:spLocks xmlns:a="http://schemas.openxmlformats.org/drawingml/2006/main" noGrp="1"/>
          </p:cNvSpPr>
          <p:nvPr/>
        </p:nvSpPr>
        <p:spPr>
          <a:xfrm xmlns:a="http://schemas.openxmlformats.org/drawingml/2006/main">
            <a:off x="723900" y="7429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D6B66F"/>
                </a:solidFill>
              </a:defRPr>
            </a:defPPr>
            <a:lvl1pPr algn="l">
              <a:defRPr sz="1350" b="1">
                <a:solidFill>
                  <a:srgbClr val="D6B66F"/>
                </a:solidFill>
              </a:defRPr>
            </a:lvl1pPr>
            <a:lvl2pPr algn="l">
              <a:defRPr sz="1350" b="1">
                <a:solidFill>
                  <a:srgbClr val="D6B66F"/>
                </a:solidFill>
              </a:defRPr>
            </a:lvl2pPr>
            <a:lvl3pPr algn="l">
              <a:defRPr sz="1350" b="1">
                <a:solidFill>
                  <a:srgbClr val="D6B66F"/>
                </a:solidFill>
              </a:defRPr>
            </a:lvl3pPr>
            <a:lvl4pPr algn="l">
              <a:defRPr sz="1350" b="1">
                <a:solidFill>
                  <a:srgbClr val="D6B66F"/>
                </a:solidFill>
              </a:defRPr>
            </a:lvl4pPr>
            <a:lvl5pPr algn="l">
              <a:defRPr sz="1350" b="1">
                <a:solidFill>
                  <a:srgbClr val="D6B66F"/>
                </a:solidFill>
              </a:defRPr>
            </a:lvl5pPr>
            <a:lvl6pPr algn="l">
              <a:defRPr sz="1350" b="1">
                <a:solidFill>
                  <a:srgbClr val="D6B66F"/>
                </a:solidFill>
              </a:defRPr>
            </a:lvl6pPr>
            <a:lvl7pPr algn="l">
              <a:defRPr sz="1350" b="1">
                <a:solidFill>
                  <a:srgbClr val="D6B66F"/>
                </a:solidFill>
              </a:defRPr>
            </a:lvl7pPr>
            <a:lvl8pPr algn="l">
              <a:defRPr sz="1350" b="1">
                <a:solidFill>
                  <a:srgbClr val="D6B66F"/>
                </a:solidFill>
              </a:defRPr>
            </a:lvl8pPr>
            <a:lvl9pPr algn="l">
              <a:defRPr sz="1350" b="1">
                <a:solidFill>
                  <a:srgbClr val="D6B66F"/>
                </a:solidFill>
              </a:defRPr>
            </a:lvl9pPr>
          </a:lstStyle>
          <a:p xmlns:a="http://schemas.openxmlformats.org/drawingml/2006/main">
            <a:pPr algn="l">
              <a:defRPr sz="1350" b="1">
                <a:solidFill>
                  <a:srgbClr val="D6B66F"/>
                </a:solidFill>
              </a:defRPr>
            </a:pPr>
            <a:r>
              <a:rPr sz="1350" b="1">
                <a:solidFill>
                  <a:srgbClr val="D6B66F"/>
                </a:solidFill>
              </a:rPr>
              <a:t>CASE COMMENT  /  PROFESSIONAL ETHICS</a:t>
            </a:r>
          </a:p>
        </p:txBody>
      </p:sp>
      <p:sp>
        <p:nvSpPr>
          <p:cNvPr id="3" name="cover-title">
            <a:extLst xmlns:a="http://schemas.openxmlformats.org/drawingml/2006/main">
              <a:ext uri="{FF2B5EF4-FFF2-40B4-BE49-F238E27FC236}">
                <a16:creationId xmlns:a16="http://schemas.microsoft.com/office/drawing/2014/main" id="{7631D10C-3DF7-4ECC-AD36-CBD615940D8E}"/>
              </a:ext>
            </a:extLst>
          </p:cNvPr>
          <p:cNvSpPr>
            <a:spLocks xmlns:a="http://schemas.openxmlformats.org/drawingml/2006/main" noGrp="1"/>
          </p:cNvSpPr>
          <p:nvPr/>
        </p:nvSpPr>
        <p:spPr>
          <a:xfrm xmlns:a="http://schemas.openxmlformats.org/drawingml/2006/main">
            <a:off x="723900" y="1409700"/>
            <a:ext cx="838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050" b="1">
                <a:solidFill>
                  <a:srgbClr val="FFFFFF"/>
                </a:solidFill>
              </a:defRPr>
            </a:defPPr>
            <a:lvl1pPr algn="l">
              <a:defRPr sz="4050" b="1">
                <a:solidFill>
                  <a:srgbClr val="FFFFFF"/>
                </a:solidFill>
              </a:defRPr>
            </a:lvl1pPr>
            <a:lvl2pPr algn="l">
              <a:defRPr sz="4050" b="1">
                <a:solidFill>
                  <a:srgbClr val="FFFFFF"/>
                </a:solidFill>
              </a:defRPr>
            </a:lvl2pPr>
            <a:lvl3pPr algn="l">
              <a:defRPr sz="4050" b="1">
                <a:solidFill>
                  <a:srgbClr val="FFFFFF"/>
                </a:solidFill>
              </a:defRPr>
            </a:lvl3pPr>
            <a:lvl4pPr algn="l">
              <a:defRPr sz="4050" b="1">
                <a:solidFill>
                  <a:srgbClr val="FFFFFF"/>
                </a:solidFill>
              </a:defRPr>
            </a:lvl4pPr>
            <a:lvl5pPr algn="l">
              <a:defRPr sz="4050" b="1">
                <a:solidFill>
                  <a:srgbClr val="FFFFFF"/>
                </a:solidFill>
              </a:defRPr>
            </a:lvl5pPr>
            <a:lvl6pPr algn="l">
              <a:defRPr sz="4050" b="1">
                <a:solidFill>
                  <a:srgbClr val="FFFFFF"/>
                </a:solidFill>
              </a:defRPr>
            </a:lvl6pPr>
            <a:lvl7pPr algn="l">
              <a:defRPr sz="4050" b="1">
                <a:solidFill>
                  <a:srgbClr val="FFFFFF"/>
                </a:solidFill>
              </a:defRPr>
            </a:lvl7pPr>
            <a:lvl8pPr algn="l">
              <a:defRPr sz="4050" b="1">
                <a:solidFill>
                  <a:srgbClr val="FFFFFF"/>
                </a:solidFill>
              </a:defRPr>
            </a:lvl8pPr>
            <a:lvl9pPr algn="l">
              <a:defRPr sz="4050" b="1">
                <a:solidFill>
                  <a:srgbClr val="FFFFFF"/>
                </a:solidFill>
              </a:defRPr>
            </a:lvl9pPr>
          </a:lstStyle>
          <a:p xmlns:a="http://schemas.openxmlformats.org/drawingml/2006/main">
            <a:pPr algn="l">
              <a:defRPr sz="4050" b="1">
                <a:solidFill>
                  <a:srgbClr val="FFFFFF"/>
                </a:solidFill>
              </a:defRPr>
            </a:pPr>
            <a:r>
              <a:rPr sz="4050" b="1">
                <a:solidFill>
                  <a:srgbClr val="FFFFFF"/>
                </a:solidFill>
              </a:rPr>
              <a:t>A.S. Mohammed Rafi</a:t>
            </a:r>
          </a:p>
          <a:p xmlns:a="http://schemas.openxmlformats.org/drawingml/2006/main">
            <a:pPr algn="l">
              <a:defRPr sz="4050" b="1">
                <a:solidFill>
                  <a:srgbClr val="FFFFFF"/>
                </a:solidFill>
              </a:defRPr>
            </a:pPr>
            <a:r>
              <a:rPr sz="4050" b="1">
                <a:solidFill>
                  <a:srgbClr val="FFFFFF"/>
                </a:solidFill>
              </a:rPr>
              <a:t>v. State of Tamil Nadu</a:t>
            </a:r>
          </a:p>
        </p:txBody>
      </p:sp>
      <p:sp>
        <p:nvSpPr>
          <p:cNvPr id="4" name="gold-rule">
            <a:extLst xmlns:a="http://schemas.openxmlformats.org/drawingml/2006/main">
              <a:ext uri="{FF2B5EF4-FFF2-40B4-BE49-F238E27FC236}">
                <a16:creationId xmlns:a16="http://schemas.microsoft.com/office/drawing/2014/main" id="{E9046E6A-80D7-43C2-8DB6-400D62641AE3}"/>
              </a:ext>
            </a:extLst>
          </p:cNvPr>
          <p:cNvSpPr>
            <a:spLocks xmlns:a="http://schemas.openxmlformats.org/drawingml/2006/main" noGrp="1"/>
          </p:cNvSpPr>
          <p:nvPr/>
        </p:nvSpPr>
        <p:spPr>
          <a:xfrm xmlns:a="http://schemas.openxmlformats.org/drawingml/2006/main">
            <a:off x="742950" y="3371850"/>
            <a:ext cx="1809750" cy="47625"/>
          </a:xfrm>
          <a:prstGeom xmlns:a="http://schemas.openxmlformats.org/drawingml/2006/main" prst="rect">
            <a:avLst/>
          </a:prstGeom>
          <a:solidFill xmlns:a="http://schemas.openxmlformats.org/drawingml/2006/main">
            <a:srgbClr val="B88A43"/>
          </a:solidFill>
          <a:ln xmlns:a="http://schemas.openxmlformats.org/drawingml/2006/main" w="0">
            <a:noFill/>
            <a:prstDash val="solid"/>
          </a:ln>
        </p:spPr>
      </p:sp>
      <p:sp>
        <p:nvSpPr>
          <p:cNvPr id="5" name="cover-question">
            <a:extLst xmlns:a="http://schemas.openxmlformats.org/drawingml/2006/main">
              <a:ext uri="{FF2B5EF4-FFF2-40B4-BE49-F238E27FC236}">
                <a16:creationId xmlns:a16="http://schemas.microsoft.com/office/drawing/2014/main" id="{B24DE36A-571A-48CD-9523-F16E6C260424}"/>
              </a:ext>
            </a:extLst>
          </p:cNvPr>
          <p:cNvSpPr>
            <a:spLocks xmlns:a="http://schemas.openxmlformats.org/drawingml/2006/main" noGrp="1"/>
          </p:cNvSpPr>
          <p:nvPr/>
        </p:nvSpPr>
        <p:spPr>
          <a:xfrm xmlns:a="http://schemas.openxmlformats.org/drawingml/2006/main">
            <a:off x="723900" y="3676650"/>
            <a:ext cx="781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E8E2D8"/>
                </a:solidFill>
              </a:defRPr>
            </a:defPPr>
            <a:lvl1pPr algn="l">
              <a:defRPr sz="2250" b="0">
                <a:solidFill>
                  <a:srgbClr val="E8E2D8"/>
                </a:solidFill>
              </a:defRPr>
            </a:lvl1pPr>
            <a:lvl2pPr algn="l">
              <a:defRPr sz="2250" b="0">
                <a:solidFill>
                  <a:srgbClr val="E8E2D8"/>
                </a:solidFill>
              </a:defRPr>
            </a:lvl2pPr>
            <a:lvl3pPr algn="l">
              <a:defRPr sz="2250" b="0">
                <a:solidFill>
                  <a:srgbClr val="E8E2D8"/>
                </a:solidFill>
              </a:defRPr>
            </a:lvl3pPr>
            <a:lvl4pPr algn="l">
              <a:defRPr sz="2250" b="0">
                <a:solidFill>
                  <a:srgbClr val="E8E2D8"/>
                </a:solidFill>
              </a:defRPr>
            </a:lvl4pPr>
            <a:lvl5pPr algn="l">
              <a:defRPr sz="2250" b="0">
                <a:solidFill>
                  <a:srgbClr val="E8E2D8"/>
                </a:solidFill>
              </a:defRPr>
            </a:lvl5pPr>
            <a:lvl6pPr algn="l">
              <a:defRPr sz="2250" b="0">
                <a:solidFill>
                  <a:srgbClr val="E8E2D8"/>
                </a:solidFill>
              </a:defRPr>
            </a:lvl6pPr>
            <a:lvl7pPr algn="l">
              <a:defRPr sz="2250" b="0">
                <a:solidFill>
                  <a:srgbClr val="E8E2D8"/>
                </a:solidFill>
              </a:defRPr>
            </a:lvl7pPr>
            <a:lvl8pPr algn="l">
              <a:defRPr sz="2250" b="0">
                <a:solidFill>
                  <a:srgbClr val="E8E2D8"/>
                </a:solidFill>
              </a:defRPr>
            </a:lvl8pPr>
            <a:lvl9pPr algn="l">
              <a:defRPr sz="2250" b="0">
                <a:solidFill>
                  <a:srgbClr val="E8E2D8"/>
                </a:solidFill>
              </a:defRPr>
            </a:lvl9pPr>
          </a:lstStyle>
          <a:p xmlns:a="http://schemas.openxmlformats.org/drawingml/2006/main">
            <a:pPr algn="l">
              <a:defRPr sz="2250" b="0">
                <a:solidFill>
                  <a:srgbClr val="E8E2D8"/>
                </a:solidFill>
              </a:defRPr>
            </a:pPr>
            <a:r>
              <a:rPr sz="2250" b="0">
                <a:solidFill>
                  <a:srgbClr val="E8E2D8"/>
                </a:solidFill>
              </a:rPr>
              <a:t>Can a Bar Association refuse legal representation to an accused?</a:t>
            </a:r>
          </a:p>
        </p:txBody>
      </p:sp>
      <p:sp>
        <p:nvSpPr>
          <p:cNvPr id="6" name="cover-court">
            <a:extLst xmlns:a="http://schemas.openxmlformats.org/drawingml/2006/main">
              <a:ext uri="{FF2B5EF4-FFF2-40B4-BE49-F238E27FC236}">
                <a16:creationId xmlns:a16="http://schemas.microsoft.com/office/drawing/2014/main" id="{11C56FC6-8E12-47F5-8403-9AD33384FFD6}"/>
              </a:ext>
            </a:extLst>
          </p:cNvPr>
          <p:cNvSpPr>
            <a:spLocks xmlns:a="http://schemas.openxmlformats.org/drawingml/2006/main" noGrp="1"/>
          </p:cNvSpPr>
          <p:nvPr/>
        </p:nvSpPr>
        <p:spPr>
          <a:xfrm xmlns:a="http://schemas.openxmlformats.org/drawingml/2006/main">
            <a:off x="723900" y="52197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D6B66F"/>
                </a:solidFill>
              </a:defRPr>
            </a:defPPr>
            <a:lvl1pPr algn="l">
              <a:defRPr sz="1500" b="1">
                <a:solidFill>
                  <a:srgbClr val="D6B66F"/>
                </a:solidFill>
              </a:defRPr>
            </a:lvl1pPr>
            <a:lvl2pPr algn="l">
              <a:defRPr sz="1500" b="1">
                <a:solidFill>
                  <a:srgbClr val="D6B66F"/>
                </a:solidFill>
              </a:defRPr>
            </a:lvl2pPr>
            <a:lvl3pPr algn="l">
              <a:defRPr sz="1500" b="1">
                <a:solidFill>
                  <a:srgbClr val="D6B66F"/>
                </a:solidFill>
              </a:defRPr>
            </a:lvl3pPr>
            <a:lvl4pPr algn="l">
              <a:defRPr sz="1500" b="1">
                <a:solidFill>
                  <a:srgbClr val="D6B66F"/>
                </a:solidFill>
              </a:defRPr>
            </a:lvl4pPr>
            <a:lvl5pPr algn="l">
              <a:defRPr sz="1500" b="1">
                <a:solidFill>
                  <a:srgbClr val="D6B66F"/>
                </a:solidFill>
              </a:defRPr>
            </a:lvl5pPr>
            <a:lvl6pPr algn="l">
              <a:defRPr sz="1500" b="1">
                <a:solidFill>
                  <a:srgbClr val="D6B66F"/>
                </a:solidFill>
              </a:defRPr>
            </a:lvl6pPr>
            <a:lvl7pPr algn="l">
              <a:defRPr sz="1500" b="1">
                <a:solidFill>
                  <a:srgbClr val="D6B66F"/>
                </a:solidFill>
              </a:defRPr>
            </a:lvl7pPr>
            <a:lvl8pPr algn="l">
              <a:defRPr sz="1500" b="1">
                <a:solidFill>
                  <a:srgbClr val="D6B66F"/>
                </a:solidFill>
              </a:defRPr>
            </a:lvl8pPr>
            <a:lvl9pPr algn="l">
              <a:defRPr sz="1500" b="1">
                <a:solidFill>
                  <a:srgbClr val="D6B66F"/>
                </a:solidFill>
              </a:defRPr>
            </a:lvl9pPr>
          </a:lstStyle>
          <a:p xmlns:a="http://schemas.openxmlformats.org/drawingml/2006/main">
            <a:pPr algn="l">
              <a:defRPr sz="1500" b="1">
                <a:solidFill>
                  <a:srgbClr val="D6B66F"/>
                </a:solidFill>
              </a:defRPr>
            </a:pPr>
            <a:r>
              <a:rPr sz="1500" b="1">
                <a:solidFill>
                  <a:srgbClr val="D6B66F"/>
                </a:solidFill>
              </a:rPr>
              <a:t>Supreme Court of India  ·  6 December 2010</a:t>
            </a:r>
          </a:p>
        </p:txBody>
      </p:sp>
      <p:sp>
        <p:nvSpPr>
          <p:cNvPr id="7" name="cover-citation">
            <a:extLst xmlns:a="http://schemas.openxmlformats.org/drawingml/2006/main">
              <a:ext uri="{FF2B5EF4-FFF2-40B4-BE49-F238E27FC236}">
                <a16:creationId xmlns:a16="http://schemas.microsoft.com/office/drawing/2014/main" id="{9E90406D-216A-4CD4-A13D-DE079A3CED1E}"/>
              </a:ext>
            </a:extLst>
          </p:cNvPr>
          <p:cNvSpPr>
            <a:spLocks xmlns:a="http://schemas.openxmlformats.org/drawingml/2006/main" noGrp="1"/>
          </p:cNvSpPr>
          <p:nvPr/>
        </p:nvSpPr>
        <p:spPr>
          <a:xfrm xmlns:a="http://schemas.openxmlformats.org/drawingml/2006/main">
            <a:off x="723900" y="56388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D5DADF"/>
                </a:solidFill>
              </a:defRPr>
            </a:defPPr>
            <a:lvl1pPr algn="l">
              <a:defRPr sz="1350" b="0">
                <a:solidFill>
                  <a:srgbClr val="D5DADF"/>
                </a:solidFill>
              </a:defRPr>
            </a:lvl1pPr>
            <a:lvl2pPr algn="l">
              <a:defRPr sz="1350" b="0">
                <a:solidFill>
                  <a:srgbClr val="D5DADF"/>
                </a:solidFill>
              </a:defRPr>
            </a:lvl2pPr>
            <a:lvl3pPr algn="l">
              <a:defRPr sz="1350" b="0">
                <a:solidFill>
                  <a:srgbClr val="D5DADF"/>
                </a:solidFill>
              </a:defRPr>
            </a:lvl3pPr>
            <a:lvl4pPr algn="l">
              <a:defRPr sz="1350" b="0">
                <a:solidFill>
                  <a:srgbClr val="D5DADF"/>
                </a:solidFill>
              </a:defRPr>
            </a:lvl4pPr>
            <a:lvl5pPr algn="l">
              <a:defRPr sz="1350" b="0">
                <a:solidFill>
                  <a:srgbClr val="D5DADF"/>
                </a:solidFill>
              </a:defRPr>
            </a:lvl5pPr>
            <a:lvl6pPr algn="l">
              <a:defRPr sz="1350" b="0">
                <a:solidFill>
                  <a:srgbClr val="D5DADF"/>
                </a:solidFill>
              </a:defRPr>
            </a:lvl6pPr>
            <a:lvl7pPr algn="l">
              <a:defRPr sz="1350" b="0">
                <a:solidFill>
                  <a:srgbClr val="D5DADF"/>
                </a:solidFill>
              </a:defRPr>
            </a:lvl7pPr>
            <a:lvl8pPr algn="l">
              <a:defRPr sz="1350" b="0">
                <a:solidFill>
                  <a:srgbClr val="D5DADF"/>
                </a:solidFill>
              </a:defRPr>
            </a:lvl8pPr>
            <a:lvl9pPr algn="l">
              <a:defRPr sz="1350" b="0">
                <a:solidFill>
                  <a:srgbClr val="D5DADF"/>
                </a:solidFill>
              </a:defRPr>
            </a:lvl9pPr>
          </a:lstStyle>
          <a:p xmlns:a="http://schemas.openxmlformats.org/drawingml/2006/main">
            <a:pPr algn="l">
              <a:defRPr sz="1350" b="0">
                <a:solidFill>
                  <a:srgbClr val="D5DADF"/>
                </a:solidFill>
              </a:defRPr>
            </a:pPr>
            <a:r>
              <a:rPr sz="1350" b="0">
                <a:solidFill>
                  <a:srgbClr val="D5DADF"/>
                </a:solidFill>
              </a:rPr>
              <a:t>(2011) 1 SCC 688  |  AIR 2011 SC 308</a:t>
            </a:r>
          </a:p>
        </p:txBody>
      </p:sp>
      <p:sp>
        <p:nvSpPr>
          <p:cNvPr id="8" name="cover-presenter">
            <a:extLst xmlns:a="http://schemas.openxmlformats.org/drawingml/2006/main">
              <a:ext uri="{FF2B5EF4-FFF2-40B4-BE49-F238E27FC236}">
                <a16:creationId xmlns:a16="http://schemas.microsoft.com/office/drawing/2014/main" id="{C3942B82-59E1-443C-8912-BEB8CAD05DE3}"/>
              </a:ext>
            </a:extLst>
          </p:cNvPr>
          <p:cNvSpPr>
            <a:spLocks xmlns:a="http://schemas.openxmlformats.org/drawingml/2006/main" noGrp="1"/>
          </p:cNvSpPr>
          <p:nvPr/>
        </p:nvSpPr>
        <p:spPr>
          <a:xfrm xmlns:a="http://schemas.openxmlformats.org/drawingml/2006/main">
            <a:off x="723900" y="61912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a:solidFill>
                  <a:srgbClr val="D5DADF"/>
                </a:solidFill>
              </a:defRPr>
            </a:defPPr>
            <a:lvl1pPr algn="l">
              <a:defRPr sz="1275" b="0">
                <a:solidFill>
                  <a:srgbClr val="D5DADF"/>
                </a:solidFill>
              </a:defRPr>
            </a:lvl1pPr>
            <a:lvl2pPr algn="l">
              <a:defRPr sz="1275" b="0">
                <a:solidFill>
                  <a:srgbClr val="D5DADF"/>
                </a:solidFill>
              </a:defRPr>
            </a:lvl2pPr>
            <a:lvl3pPr algn="l">
              <a:defRPr sz="1275" b="0">
                <a:solidFill>
                  <a:srgbClr val="D5DADF"/>
                </a:solidFill>
              </a:defRPr>
            </a:lvl3pPr>
            <a:lvl4pPr algn="l">
              <a:defRPr sz="1275" b="0">
                <a:solidFill>
                  <a:srgbClr val="D5DADF"/>
                </a:solidFill>
              </a:defRPr>
            </a:lvl4pPr>
            <a:lvl5pPr algn="l">
              <a:defRPr sz="1275" b="0">
                <a:solidFill>
                  <a:srgbClr val="D5DADF"/>
                </a:solidFill>
              </a:defRPr>
            </a:lvl5pPr>
            <a:lvl6pPr algn="l">
              <a:defRPr sz="1275" b="0">
                <a:solidFill>
                  <a:srgbClr val="D5DADF"/>
                </a:solidFill>
              </a:defRPr>
            </a:lvl6pPr>
            <a:lvl7pPr algn="l">
              <a:defRPr sz="1275" b="0">
                <a:solidFill>
                  <a:srgbClr val="D5DADF"/>
                </a:solidFill>
              </a:defRPr>
            </a:lvl7pPr>
            <a:lvl8pPr algn="l">
              <a:defRPr sz="1275" b="0">
                <a:solidFill>
                  <a:srgbClr val="D5DADF"/>
                </a:solidFill>
              </a:defRPr>
            </a:lvl8pPr>
            <a:lvl9pPr algn="l">
              <a:defRPr sz="1275" b="0">
                <a:solidFill>
                  <a:srgbClr val="D5DADF"/>
                </a:solidFill>
              </a:defRPr>
            </a:lvl9pPr>
          </a:lstStyle>
          <a:p xmlns:a="http://schemas.openxmlformats.org/drawingml/2006/main">
            <a:pPr algn="l">
              <a:defRPr sz="1275" b="0">
                <a:solidFill>
                  <a:srgbClr val="D5DADF"/>
                </a:solidFill>
              </a:defRPr>
            </a:pPr>
            <a:r>
              <a:rPr sz="1275" b="0">
                <a:solidFill>
                  <a:srgbClr val="D5DADF"/>
                </a:solidFill>
              </a:rPr>
              <a:t>Presented by: ____________________     Class: __________</a:t>
            </a:r>
          </a:p>
        </p:txBody>
      </p:sp>
    </p:spTree>
    <p:extLst>
      <p:ext uri="{BB962C8B-B14F-4D97-AF65-F5344CB8AC3E}">
        <p14:creationId xmlns:p14="http://schemas.microsoft.com/office/powerpoint/2010/main" val="884750453"/>
      </p:ext>
    </p:extLst>
  </p:cSld>
</p:sld>
</file>

<file path=ppt/slides/slide2.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55B724B6-397E-41E5-BC73-7EC9C17A772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84C1183B-BB1B-4470-BAFA-F20D4F3A16E0}"/>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CASE CONTEXT</a:t>
            </a:r>
          </a:p>
        </p:txBody>
      </p:sp>
      <p:sp>
        <p:nvSpPr>
          <p:cNvPr id="3" name="slide-title">
            <a:extLst xmlns:a="http://schemas.openxmlformats.org/drawingml/2006/main">
              <a:ext uri="{FF2B5EF4-FFF2-40B4-BE49-F238E27FC236}">
                <a16:creationId xmlns:a16="http://schemas.microsoft.com/office/drawing/2014/main" id="{C3B8024D-CB83-43C8-851B-8BAF12B557FA}"/>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One judgment, connected proceedings</a:t>
            </a:r>
          </a:p>
        </p:txBody>
      </p:sp>
      <p:sp>
        <p:nvSpPr>
          <p:cNvPr id="4" name="footer-rule">
            <a:extLst xmlns:a="http://schemas.openxmlformats.org/drawingml/2006/main">
              <a:ext uri="{FF2B5EF4-FFF2-40B4-BE49-F238E27FC236}">
                <a16:creationId xmlns:a16="http://schemas.microsoft.com/office/drawing/2014/main" id="{F0FB6BF6-6C3C-44E9-8E13-CB438835795F}"/>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D424C64D-59DF-4317-8B7C-A0F50A4E695C}"/>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A8286012-B2A8-4883-B31C-3206739FB73D}"/>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02</a:t>
            </a:r>
          </a:p>
        </p:txBody>
      </p:sp>
      <p:sp>
        <p:nvSpPr>
          <p:cNvPr id="7" name="left-lead">
            <a:extLst xmlns:a="http://schemas.openxmlformats.org/drawingml/2006/main">
              <a:ext uri="{FF2B5EF4-FFF2-40B4-BE49-F238E27FC236}">
                <a16:creationId xmlns:a16="http://schemas.microsoft.com/office/drawing/2014/main" id="{31E9C86C-750C-4AC6-8DA6-E1C37314AC66}"/>
              </a:ext>
            </a:extLst>
          </p:cNvPr>
          <p:cNvSpPr>
            <a:spLocks xmlns:a="http://schemas.openxmlformats.org/drawingml/2006/main" noGrp="1"/>
          </p:cNvSpPr>
          <p:nvPr/>
        </p:nvSpPr>
        <p:spPr>
          <a:xfrm xmlns:a="http://schemas.openxmlformats.org/drawingml/2006/main">
            <a:off x="685800" y="1600200"/>
            <a:ext cx="4524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7A2534"/>
                </a:solidFill>
              </a:defRPr>
            </a:defPPr>
            <a:lvl1pPr algn="l">
              <a:defRPr sz="2175" b="1">
                <a:solidFill>
                  <a:srgbClr val="7A2534"/>
                </a:solidFill>
              </a:defRPr>
            </a:lvl1pPr>
            <a:lvl2pPr algn="l">
              <a:defRPr sz="2175" b="1">
                <a:solidFill>
                  <a:srgbClr val="7A2534"/>
                </a:solidFill>
              </a:defRPr>
            </a:lvl2pPr>
            <a:lvl3pPr algn="l">
              <a:defRPr sz="2175" b="1">
                <a:solidFill>
                  <a:srgbClr val="7A2534"/>
                </a:solidFill>
              </a:defRPr>
            </a:lvl3pPr>
            <a:lvl4pPr algn="l">
              <a:defRPr sz="2175" b="1">
                <a:solidFill>
                  <a:srgbClr val="7A2534"/>
                </a:solidFill>
              </a:defRPr>
            </a:lvl4pPr>
            <a:lvl5pPr algn="l">
              <a:defRPr sz="2175" b="1">
                <a:solidFill>
                  <a:srgbClr val="7A2534"/>
                </a:solidFill>
              </a:defRPr>
            </a:lvl5pPr>
            <a:lvl6pPr algn="l">
              <a:defRPr sz="2175" b="1">
                <a:solidFill>
                  <a:srgbClr val="7A2534"/>
                </a:solidFill>
              </a:defRPr>
            </a:lvl6pPr>
            <a:lvl7pPr algn="l">
              <a:defRPr sz="2175" b="1">
                <a:solidFill>
                  <a:srgbClr val="7A2534"/>
                </a:solidFill>
              </a:defRPr>
            </a:lvl7pPr>
            <a:lvl8pPr algn="l">
              <a:defRPr sz="2175" b="1">
                <a:solidFill>
                  <a:srgbClr val="7A2534"/>
                </a:solidFill>
              </a:defRPr>
            </a:lvl8pPr>
            <a:lvl9pPr algn="l">
              <a:defRPr sz="2175" b="1">
                <a:solidFill>
                  <a:srgbClr val="7A2534"/>
                </a:solidFill>
              </a:defRPr>
            </a:lvl9pPr>
          </a:lstStyle>
          <a:p xmlns:a="http://schemas.openxmlformats.org/drawingml/2006/main">
            <a:pPr algn="l">
              <a:defRPr sz="2175" b="1">
                <a:solidFill>
                  <a:srgbClr val="7A2534"/>
                </a:solidFill>
              </a:defRPr>
            </a:pPr>
            <a:r>
              <a:rPr sz="2175" b="1">
                <a:solidFill>
                  <a:srgbClr val="7A2534"/>
                </a:solidFill>
              </a:rPr>
              <a:t>The judgment dealt with two connected tracks.</a:t>
            </a:r>
          </a:p>
        </p:txBody>
      </p:sp>
      <p:sp>
        <p:nvSpPr>
          <p:cNvPr id="8" name="left-body">
            <a:extLst xmlns:a="http://schemas.openxmlformats.org/drawingml/2006/main">
              <a:ext uri="{FF2B5EF4-FFF2-40B4-BE49-F238E27FC236}">
                <a16:creationId xmlns:a16="http://schemas.microsoft.com/office/drawing/2014/main" id="{6AFE7631-255A-476B-B05B-EC862C32FFE6}"/>
              </a:ext>
            </a:extLst>
          </p:cNvPr>
          <p:cNvSpPr>
            <a:spLocks xmlns:a="http://schemas.openxmlformats.org/drawingml/2006/main" noGrp="1"/>
          </p:cNvSpPr>
          <p:nvPr/>
        </p:nvSpPr>
        <p:spPr>
          <a:xfrm xmlns:a="http://schemas.openxmlformats.org/drawingml/2006/main">
            <a:off x="685800" y="2286000"/>
            <a:ext cx="46291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7242B"/>
                </a:solidFill>
              </a:defRPr>
            </a:defPPr>
            <a:lvl1pPr algn="l">
              <a:defRPr sz="1875" b="0">
                <a:solidFill>
                  <a:srgbClr val="17242B"/>
                </a:solidFill>
              </a:defRPr>
            </a:lvl1pPr>
            <a:lvl2pPr algn="l">
              <a:defRPr sz="1875" b="0">
                <a:solidFill>
                  <a:srgbClr val="17242B"/>
                </a:solidFill>
              </a:defRPr>
            </a:lvl2pPr>
            <a:lvl3pPr algn="l">
              <a:defRPr sz="1875" b="0">
                <a:solidFill>
                  <a:srgbClr val="17242B"/>
                </a:solidFill>
              </a:defRPr>
            </a:lvl3pPr>
            <a:lvl4pPr algn="l">
              <a:defRPr sz="1875" b="0">
                <a:solidFill>
                  <a:srgbClr val="17242B"/>
                </a:solidFill>
              </a:defRPr>
            </a:lvl4pPr>
            <a:lvl5pPr algn="l">
              <a:defRPr sz="1875" b="0">
                <a:solidFill>
                  <a:srgbClr val="17242B"/>
                </a:solidFill>
              </a:defRPr>
            </a:lvl5pPr>
            <a:lvl6pPr algn="l">
              <a:defRPr sz="1875" b="0">
                <a:solidFill>
                  <a:srgbClr val="17242B"/>
                </a:solidFill>
              </a:defRPr>
            </a:lvl6pPr>
            <a:lvl7pPr algn="l">
              <a:defRPr sz="1875" b="0">
                <a:solidFill>
                  <a:srgbClr val="17242B"/>
                </a:solidFill>
              </a:defRPr>
            </a:lvl7pPr>
            <a:lvl8pPr algn="l">
              <a:defRPr sz="1875" b="0">
                <a:solidFill>
                  <a:srgbClr val="17242B"/>
                </a:solidFill>
              </a:defRPr>
            </a:lvl8pPr>
            <a:lvl9pPr algn="l">
              <a:defRPr sz="1875" b="0">
                <a:solidFill>
                  <a:srgbClr val="17242B"/>
                </a:solidFill>
              </a:defRPr>
            </a:lvl9pPr>
          </a:lstStyle>
          <a:p xmlns:a="http://schemas.openxmlformats.org/drawingml/2006/main">
            <a:pPr algn="l">
              <a:defRPr sz="1875" b="0">
                <a:solidFill>
                  <a:srgbClr val="17242B"/>
                </a:solidFill>
              </a:defRPr>
            </a:pPr>
            <a:r>
              <a:rPr sz="1875" b="0">
                <a:solidFill>
                  <a:srgbClr val="17242B"/>
                </a:solidFill>
              </a:rPr>
              <a:t>Rafi’s criminal appeal arose from his FIR. Connected civil appeals addressed the Coimbatore Bar Association’s resolution not to represent accused policemen.</a:t>
            </a:r>
          </a:p>
        </p:txBody>
      </p:sp>
      <p:sp>
        <p:nvSpPr>
          <p:cNvPr id="9" name="divider">
            <a:extLst xmlns:a="http://schemas.openxmlformats.org/drawingml/2006/main">
              <a:ext uri="{FF2B5EF4-FFF2-40B4-BE49-F238E27FC236}">
                <a16:creationId xmlns:a16="http://schemas.microsoft.com/office/drawing/2014/main" id="{9E9232CF-4F8E-42AB-818C-44719693DBAD}"/>
              </a:ext>
            </a:extLst>
          </p:cNvPr>
          <p:cNvSpPr>
            <a:spLocks xmlns:a="http://schemas.openxmlformats.org/drawingml/2006/main" noGrp="1"/>
          </p:cNvSpPr>
          <p:nvPr/>
        </p:nvSpPr>
        <p:spPr>
          <a:xfrm xmlns:a="http://schemas.openxmlformats.org/drawingml/2006/main">
            <a:off x="5715000" y="1619250"/>
            <a:ext cx="19050" cy="3714750"/>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10" name="right-label">
            <a:extLst xmlns:a="http://schemas.openxmlformats.org/drawingml/2006/main">
              <a:ext uri="{FF2B5EF4-FFF2-40B4-BE49-F238E27FC236}">
                <a16:creationId xmlns:a16="http://schemas.microsoft.com/office/drawing/2014/main" id="{9D13AD1A-7E13-4EFF-97CB-C96B6FAAE2D9}"/>
              </a:ext>
            </a:extLst>
          </p:cNvPr>
          <p:cNvSpPr>
            <a:spLocks xmlns:a="http://schemas.openxmlformats.org/drawingml/2006/main" noGrp="1"/>
          </p:cNvSpPr>
          <p:nvPr/>
        </p:nvSpPr>
        <p:spPr>
          <a:xfrm xmlns:a="http://schemas.openxmlformats.org/drawingml/2006/main">
            <a:off x="6286500" y="1733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627078"/>
                </a:solidFill>
              </a:defRPr>
            </a:defPPr>
            <a:lvl1pPr algn="l">
              <a:defRPr sz="1200" b="1">
                <a:solidFill>
                  <a:srgbClr val="627078"/>
                </a:solidFill>
              </a:defRPr>
            </a:lvl1pPr>
            <a:lvl2pPr algn="l">
              <a:defRPr sz="1200" b="1">
                <a:solidFill>
                  <a:srgbClr val="627078"/>
                </a:solidFill>
              </a:defRPr>
            </a:lvl2pPr>
            <a:lvl3pPr algn="l">
              <a:defRPr sz="1200" b="1">
                <a:solidFill>
                  <a:srgbClr val="627078"/>
                </a:solidFill>
              </a:defRPr>
            </a:lvl3pPr>
            <a:lvl4pPr algn="l">
              <a:defRPr sz="1200" b="1">
                <a:solidFill>
                  <a:srgbClr val="627078"/>
                </a:solidFill>
              </a:defRPr>
            </a:lvl4pPr>
            <a:lvl5pPr algn="l">
              <a:defRPr sz="1200" b="1">
                <a:solidFill>
                  <a:srgbClr val="627078"/>
                </a:solidFill>
              </a:defRPr>
            </a:lvl5pPr>
            <a:lvl6pPr algn="l">
              <a:defRPr sz="1200" b="1">
                <a:solidFill>
                  <a:srgbClr val="627078"/>
                </a:solidFill>
              </a:defRPr>
            </a:lvl6pPr>
            <a:lvl7pPr algn="l">
              <a:defRPr sz="1200" b="1">
                <a:solidFill>
                  <a:srgbClr val="627078"/>
                </a:solidFill>
              </a:defRPr>
            </a:lvl7pPr>
            <a:lvl8pPr algn="l">
              <a:defRPr sz="1200" b="1">
                <a:solidFill>
                  <a:srgbClr val="627078"/>
                </a:solidFill>
              </a:defRPr>
            </a:lvl8pPr>
            <a:lvl9pPr algn="l">
              <a:defRPr sz="1200" b="1">
                <a:solidFill>
                  <a:srgbClr val="627078"/>
                </a:solidFill>
              </a:defRPr>
            </a:lvl9pPr>
          </a:lstStyle>
          <a:p xmlns:a="http://schemas.openxmlformats.org/drawingml/2006/main">
            <a:pPr algn="l">
              <a:defRPr sz="1200" b="1">
                <a:solidFill>
                  <a:srgbClr val="627078"/>
                </a:solidFill>
              </a:defRPr>
            </a:pPr>
            <a:r>
              <a:rPr sz="1200" b="1">
                <a:solidFill>
                  <a:srgbClr val="627078"/>
                </a:solidFill>
              </a:rPr>
              <a:t>THE ETHICS QUESTION</a:t>
            </a:r>
          </a:p>
        </p:txBody>
      </p:sp>
      <p:sp>
        <p:nvSpPr>
          <p:cNvPr id="11" name="right-question">
            <a:extLst xmlns:a="http://schemas.openxmlformats.org/drawingml/2006/main">
              <a:ext uri="{FF2B5EF4-FFF2-40B4-BE49-F238E27FC236}">
                <a16:creationId xmlns:a16="http://schemas.microsoft.com/office/drawing/2014/main" id="{B52CD22A-728D-4407-942C-F3E21E91EA23}"/>
              </a:ext>
            </a:extLst>
          </p:cNvPr>
          <p:cNvSpPr>
            <a:spLocks xmlns:a="http://schemas.openxmlformats.org/drawingml/2006/main" noGrp="1"/>
          </p:cNvSpPr>
          <p:nvPr/>
        </p:nvSpPr>
        <p:spPr>
          <a:xfrm xmlns:a="http://schemas.openxmlformats.org/drawingml/2006/main">
            <a:off x="6286500" y="2152650"/>
            <a:ext cx="4667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17242B"/>
                </a:solidFill>
              </a:defRPr>
            </a:defPPr>
            <a:lvl1pPr algn="l">
              <a:defRPr sz="2550" b="1">
                <a:solidFill>
                  <a:srgbClr val="17242B"/>
                </a:solidFill>
              </a:defRPr>
            </a:lvl1pPr>
            <a:lvl2pPr algn="l">
              <a:defRPr sz="2550" b="1">
                <a:solidFill>
                  <a:srgbClr val="17242B"/>
                </a:solidFill>
              </a:defRPr>
            </a:lvl2pPr>
            <a:lvl3pPr algn="l">
              <a:defRPr sz="2550" b="1">
                <a:solidFill>
                  <a:srgbClr val="17242B"/>
                </a:solidFill>
              </a:defRPr>
            </a:lvl3pPr>
            <a:lvl4pPr algn="l">
              <a:defRPr sz="2550" b="1">
                <a:solidFill>
                  <a:srgbClr val="17242B"/>
                </a:solidFill>
              </a:defRPr>
            </a:lvl4pPr>
            <a:lvl5pPr algn="l">
              <a:defRPr sz="2550" b="1">
                <a:solidFill>
                  <a:srgbClr val="17242B"/>
                </a:solidFill>
              </a:defRPr>
            </a:lvl5pPr>
            <a:lvl6pPr algn="l">
              <a:defRPr sz="2550" b="1">
                <a:solidFill>
                  <a:srgbClr val="17242B"/>
                </a:solidFill>
              </a:defRPr>
            </a:lvl6pPr>
            <a:lvl7pPr algn="l">
              <a:defRPr sz="2550" b="1">
                <a:solidFill>
                  <a:srgbClr val="17242B"/>
                </a:solidFill>
              </a:defRPr>
            </a:lvl7pPr>
            <a:lvl8pPr algn="l">
              <a:defRPr sz="2550" b="1">
                <a:solidFill>
                  <a:srgbClr val="17242B"/>
                </a:solidFill>
              </a:defRPr>
            </a:lvl8pPr>
            <a:lvl9pPr algn="l">
              <a:defRPr sz="2550" b="1">
                <a:solidFill>
                  <a:srgbClr val="17242B"/>
                </a:solidFill>
              </a:defRPr>
            </a:lvl9pPr>
          </a:lstStyle>
          <a:p xmlns:a="http://schemas.openxmlformats.org/drawingml/2006/main">
            <a:pPr algn="l">
              <a:defRPr sz="2550" b="1">
                <a:solidFill>
                  <a:srgbClr val="17242B"/>
                </a:solidFill>
              </a:defRPr>
            </a:pPr>
            <a:r>
              <a:rPr sz="2550" b="1">
                <a:solidFill>
                  <a:srgbClr val="17242B"/>
                </a:solidFill>
              </a:rPr>
              <a:t>Can a collective Bar resolution prevent every member from appearing for a particular accused?</a:t>
            </a:r>
          </a:p>
        </p:txBody>
      </p:sp>
      <p:sp>
        <p:nvSpPr>
          <p:cNvPr id="12" name="answer-rule">
            <a:extLst xmlns:a="http://schemas.openxmlformats.org/drawingml/2006/main">
              <a:ext uri="{FF2B5EF4-FFF2-40B4-BE49-F238E27FC236}">
                <a16:creationId xmlns:a16="http://schemas.microsoft.com/office/drawing/2014/main" id="{D58B973F-19B4-407C-A32C-ADED7CCCE802}"/>
              </a:ext>
            </a:extLst>
          </p:cNvPr>
          <p:cNvSpPr>
            <a:spLocks xmlns:a="http://schemas.openxmlformats.org/drawingml/2006/main" noGrp="1"/>
          </p:cNvSpPr>
          <p:nvPr/>
        </p:nvSpPr>
        <p:spPr>
          <a:xfrm xmlns:a="http://schemas.openxmlformats.org/drawingml/2006/main">
            <a:off x="6286500" y="3905250"/>
            <a:ext cx="1143000" cy="47625"/>
          </a:xfrm>
          <a:prstGeom xmlns:a="http://schemas.openxmlformats.org/drawingml/2006/main" prst="rect">
            <a:avLst/>
          </a:prstGeom>
          <a:solidFill xmlns:a="http://schemas.openxmlformats.org/drawingml/2006/main">
            <a:srgbClr val="B88A43"/>
          </a:solidFill>
          <a:ln xmlns:a="http://schemas.openxmlformats.org/drawingml/2006/main" w="0">
            <a:noFill/>
            <a:prstDash val="solid"/>
          </a:ln>
        </p:spPr>
      </p:sp>
      <p:sp>
        <p:nvSpPr>
          <p:cNvPr id="13" name="answer">
            <a:extLst xmlns:a="http://schemas.openxmlformats.org/drawingml/2006/main">
              <a:ext uri="{FF2B5EF4-FFF2-40B4-BE49-F238E27FC236}">
                <a16:creationId xmlns:a16="http://schemas.microsoft.com/office/drawing/2014/main" id="{C244C03D-DF99-4626-AF66-E45B1C38B90D}"/>
              </a:ext>
            </a:extLst>
          </p:cNvPr>
          <p:cNvSpPr>
            <a:spLocks xmlns:a="http://schemas.openxmlformats.org/drawingml/2006/main" noGrp="1"/>
          </p:cNvSpPr>
          <p:nvPr/>
        </p:nvSpPr>
        <p:spPr>
          <a:xfrm xmlns:a="http://schemas.openxmlformats.org/drawingml/2006/main">
            <a:off x="6286500" y="4210050"/>
            <a:ext cx="4667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35564B"/>
                </a:solidFill>
              </a:defRPr>
            </a:defPPr>
            <a:lvl1pPr algn="l">
              <a:defRPr sz="1875" b="1">
                <a:solidFill>
                  <a:srgbClr val="35564B"/>
                </a:solidFill>
              </a:defRPr>
            </a:lvl1pPr>
            <a:lvl2pPr algn="l">
              <a:defRPr sz="1875" b="1">
                <a:solidFill>
                  <a:srgbClr val="35564B"/>
                </a:solidFill>
              </a:defRPr>
            </a:lvl2pPr>
            <a:lvl3pPr algn="l">
              <a:defRPr sz="1875" b="1">
                <a:solidFill>
                  <a:srgbClr val="35564B"/>
                </a:solidFill>
              </a:defRPr>
            </a:lvl3pPr>
            <a:lvl4pPr algn="l">
              <a:defRPr sz="1875" b="1">
                <a:solidFill>
                  <a:srgbClr val="35564B"/>
                </a:solidFill>
              </a:defRPr>
            </a:lvl4pPr>
            <a:lvl5pPr algn="l">
              <a:defRPr sz="1875" b="1">
                <a:solidFill>
                  <a:srgbClr val="35564B"/>
                </a:solidFill>
              </a:defRPr>
            </a:lvl5pPr>
            <a:lvl6pPr algn="l">
              <a:defRPr sz="1875" b="1">
                <a:solidFill>
                  <a:srgbClr val="35564B"/>
                </a:solidFill>
              </a:defRPr>
            </a:lvl6pPr>
            <a:lvl7pPr algn="l">
              <a:defRPr sz="1875" b="1">
                <a:solidFill>
                  <a:srgbClr val="35564B"/>
                </a:solidFill>
              </a:defRPr>
            </a:lvl7pPr>
            <a:lvl8pPr algn="l">
              <a:defRPr sz="1875" b="1">
                <a:solidFill>
                  <a:srgbClr val="35564B"/>
                </a:solidFill>
              </a:defRPr>
            </a:lvl8pPr>
            <a:lvl9pPr algn="l">
              <a:defRPr sz="1875" b="1">
                <a:solidFill>
                  <a:srgbClr val="35564B"/>
                </a:solidFill>
              </a:defRPr>
            </a:lvl9pPr>
          </a:lstStyle>
          <a:p xmlns:a="http://schemas.openxmlformats.org/drawingml/2006/main">
            <a:pPr algn="l">
              <a:defRPr sz="1875" b="1">
                <a:solidFill>
                  <a:srgbClr val="35564B"/>
                </a:solidFill>
              </a:defRPr>
            </a:pPr>
            <a:r>
              <a:rPr sz="1875" b="1">
                <a:solidFill>
                  <a:srgbClr val="35564B"/>
                </a:solidFill>
              </a:rPr>
              <a:t>The Court said no. A collective boycott is incompatible with professional ethics and the right to legal representation.</a:t>
            </a:r>
          </a:p>
        </p:txBody>
      </p:sp>
    </p:spTree>
    <p:extLst>
      <p:ext uri="{BB962C8B-B14F-4D97-AF65-F5344CB8AC3E}">
        <p14:creationId xmlns:p14="http://schemas.microsoft.com/office/powerpoint/2010/main" val="49818225"/>
      </p:ext>
    </p:extLst>
  </p:cSld>
</p:sld>
</file>

<file path=ppt/slides/slide3.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21" name="top-accent">
            <a:extLst xmlns:a="http://schemas.openxmlformats.org/drawingml/2006/main">
              <a:ext uri="{FF2B5EF4-FFF2-40B4-BE49-F238E27FC236}">
                <a16:creationId xmlns:a16="http://schemas.microsoft.com/office/drawing/2014/main" id="{3556737F-BC20-464A-A6C9-E805B12331A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3DE5A15F-3BE9-457B-9FE9-7B8877D5B601}"/>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FACTS AND ISSUES</a:t>
            </a:r>
          </a:p>
        </p:txBody>
      </p:sp>
      <p:sp>
        <p:nvSpPr>
          <p:cNvPr id="3" name="slide-title">
            <a:extLst xmlns:a="http://schemas.openxmlformats.org/drawingml/2006/main">
              <a:ext uri="{FF2B5EF4-FFF2-40B4-BE49-F238E27FC236}">
                <a16:creationId xmlns:a16="http://schemas.microsoft.com/office/drawing/2014/main" id="{0C79E289-C584-4F96-9157-C1F027000DF2}"/>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The dispute and the legal question</a:t>
            </a:r>
          </a:p>
        </p:txBody>
      </p:sp>
      <p:sp>
        <p:nvSpPr>
          <p:cNvPr id="4" name="footer-rule">
            <a:extLst xmlns:a="http://schemas.openxmlformats.org/drawingml/2006/main">
              <a:ext uri="{FF2B5EF4-FFF2-40B4-BE49-F238E27FC236}">
                <a16:creationId xmlns:a16="http://schemas.microsoft.com/office/drawing/2014/main" id="{75FBBFDE-58EA-411A-9B03-7A7812AFD240}"/>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FDACC2BE-89C3-4069-A49E-3A55AA797F28}"/>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1B679536-BF55-4F47-A282-643E5CCA65C4}"/>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03</a:t>
            </a:r>
          </a:p>
        </p:txBody>
      </p:sp>
      <p:sp>
        <p:nvSpPr>
          <p:cNvPr id="7" name="sequence-label">
            <a:extLst xmlns:a="http://schemas.openxmlformats.org/drawingml/2006/main">
              <a:ext uri="{FF2B5EF4-FFF2-40B4-BE49-F238E27FC236}">
                <a16:creationId xmlns:a16="http://schemas.microsoft.com/office/drawing/2014/main" id="{E3454861-D528-42E9-A48F-A0725E3915AC}"/>
              </a:ext>
            </a:extLst>
          </p:cNvPr>
          <p:cNvSpPr>
            <a:spLocks xmlns:a="http://schemas.openxmlformats.org/drawingml/2006/main" noGrp="1"/>
          </p:cNvSpPr>
          <p:nvPr/>
        </p:nvSpPr>
        <p:spPr>
          <a:xfrm xmlns:a="http://schemas.openxmlformats.org/drawingml/2006/main">
            <a:off x="685800" y="16002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7A2534"/>
                </a:solidFill>
              </a:defRPr>
            </a:defPPr>
            <a:lvl1pPr algn="l">
              <a:defRPr sz="1200" b="1">
                <a:solidFill>
                  <a:srgbClr val="7A2534"/>
                </a:solidFill>
              </a:defRPr>
            </a:lvl1pPr>
            <a:lvl2pPr algn="l">
              <a:defRPr sz="1200" b="1">
                <a:solidFill>
                  <a:srgbClr val="7A2534"/>
                </a:solidFill>
              </a:defRPr>
            </a:lvl2pPr>
            <a:lvl3pPr algn="l">
              <a:defRPr sz="1200" b="1">
                <a:solidFill>
                  <a:srgbClr val="7A2534"/>
                </a:solidFill>
              </a:defRPr>
            </a:lvl3pPr>
            <a:lvl4pPr algn="l">
              <a:defRPr sz="1200" b="1">
                <a:solidFill>
                  <a:srgbClr val="7A2534"/>
                </a:solidFill>
              </a:defRPr>
            </a:lvl4pPr>
            <a:lvl5pPr algn="l">
              <a:defRPr sz="1200" b="1">
                <a:solidFill>
                  <a:srgbClr val="7A2534"/>
                </a:solidFill>
              </a:defRPr>
            </a:lvl5pPr>
            <a:lvl6pPr algn="l">
              <a:defRPr sz="1200" b="1">
                <a:solidFill>
                  <a:srgbClr val="7A2534"/>
                </a:solidFill>
              </a:defRPr>
            </a:lvl6pPr>
            <a:lvl7pPr algn="l">
              <a:defRPr sz="1200" b="1">
                <a:solidFill>
                  <a:srgbClr val="7A2534"/>
                </a:solidFill>
              </a:defRPr>
            </a:lvl7pPr>
            <a:lvl8pPr algn="l">
              <a:defRPr sz="1200" b="1">
                <a:solidFill>
                  <a:srgbClr val="7A2534"/>
                </a:solidFill>
              </a:defRPr>
            </a:lvl8pPr>
            <a:lvl9pPr algn="l">
              <a:defRPr sz="1200" b="1">
                <a:solidFill>
                  <a:srgbClr val="7A2534"/>
                </a:solidFill>
              </a:defRPr>
            </a:lvl9pPr>
          </a:lstStyle>
          <a:p xmlns:a="http://schemas.openxmlformats.org/drawingml/2006/main">
            <a:pPr algn="l">
              <a:defRPr sz="1200" b="1">
                <a:solidFill>
                  <a:srgbClr val="7A2534"/>
                </a:solidFill>
              </a:defRPr>
            </a:pPr>
            <a:r>
              <a:rPr sz="1200" b="1">
                <a:solidFill>
                  <a:srgbClr val="7A2534"/>
                </a:solidFill>
              </a:rPr>
              <a:t>WHAT HAPPENED</a:t>
            </a:r>
          </a:p>
        </p:txBody>
      </p:sp>
      <p:sp>
        <p:nvSpPr>
          <p:cNvPr id="8" name="step-number-01">
            <a:extLst xmlns:a="http://schemas.openxmlformats.org/drawingml/2006/main">
              <a:ext uri="{FF2B5EF4-FFF2-40B4-BE49-F238E27FC236}">
                <a16:creationId xmlns:a16="http://schemas.microsoft.com/office/drawing/2014/main" id="{74E334D8-5C9B-46B0-8533-7B28EDECC596}"/>
              </a:ext>
            </a:extLst>
          </p:cNvPr>
          <p:cNvSpPr>
            <a:spLocks xmlns:a="http://schemas.openxmlformats.org/drawingml/2006/main" noGrp="1"/>
          </p:cNvSpPr>
          <p:nvPr/>
        </p:nvSpPr>
        <p:spPr>
          <a:xfrm xmlns:a="http://schemas.openxmlformats.org/drawingml/2006/main">
            <a:off x="685800" y="20193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B88A43"/>
                </a:solidFill>
              </a:defRPr>
            </a:defPPr>
            <a:lvl1pPr algn="l">
              <a:defRPr sz="1650" b="1">
                <a:solidFill>
                  <a:srgbClr val="B88A43"/>
                </a:solidFill>
              </a:defRPr>
            </a:lvl1pPr>
            <a:lvl2pPr algn="l">
              <a:defRPr sz="1650" b="1">
                <a:solidFill>
                  <a:srgbClr val="B88A43"/>
                </a:solidFill>
              </a:defRPr>
            </a:lvl2pPr>
            <a:lvl3pPr algn="l">
              <a:defRPr sz="1650" b="1">
                <a:solidFill>
                  <a:srgbClr val="B88A43"/>
                </a:solidFill>
              </a:defRPr>
            </a:lvl3pPr>
            <a:lvl4pPr algn="l">
              <a:defRPr sz="1650" b="1">
                <a:solidFill>
                  <a:srgbClr val="B88A43"/>
                </a:solidFill>
              </a:defRPr>
            </a:lvl4pPr>
            <a:lvl5pPr algn="l">
              <a:defRPr sz="1650" b="1">
                <a:solidFill>
                  <a:srgbClr val="B88A43"/>
                </a:solidFill>
              </a:defRPr>
            </a:lvl5pPr>
            <a:lvl6pPr algn="l">
              <a:defRPr sz="1650" b="1">
                <a:solidFill>
                  <a:srgbClr val="B88A43"/>
                </a:solidFill>
              </a:defRPr>
            </a:lvl6pPr>
            <a:lvl7pPr algn="l">
              <a:defRPr sz="1650" b="1">
                <a:solidFill>
                  <a:srgbClr val="B88A43"/>
                </a:solidFill>
              </a:defRPr>
            </a:lvl7pPr>
            <a:lvl8pPr algn="l">
              <a:defRPr sz="1650" b="1">
                <a:solidFill>
                  <a:srgbClr val="B88A43"/>
                </a:solidFill>
              </a:defRPr>
            </a:lvl8pPr>
            <a:lvl9pPr algn="l">
              <a:defRPr sz="1650" b="1">
                <a:solidFill>
                  <a:srgbClr val="B88A43"/>
                </a:solidFill>
              </a:defRPr>
            </a:lvl9pPr>
          </a:lstStyle>
          <a:p xmlns:a="http://schemas.openxmlformats.org/drawingml/2006/main">
            <a:pPr algn="l">
              <a:defRPr sz="1650" b="1">
                <a:solidFill>
                  <a:srgbClr val="B88A43"/>
                </a:solidFill>
              </a:defRPr>
            </a:pPr>
            <a:r>
              <a:rPr sz="1650" b="1">
                <a:solidFill>
                  <a:srgbClr val="B88A43"/>
                </a:solidFill>
              </a:rPr>
              <a:t>01</a:t>
            </a:r>
          </a:p>
        </p:txBody>
      </p:sp>
      <p:sp>
        <p:nvSpPr>
          <p:cNvPr id="9" name="step-head-01">
            <a:extLst xmlns:a="http://schemas.openxmlformats.org/drawingml/2006/main">
              <a:ext uri="{FF2B5EF4-FFF2-40B4-BE49-F238E27FC236}">
                <a16:creationId xmlns:a16="http://schemas.microsoft.com/office/drawing/2014/main" id="{A586F6CD-AFF6-4CB2-81D4-73CDE77D1703}"/>
              </a:ext>
            </a:extLst>
          </p:cNvPr>
          <p:cNvSpPr>
            <a:spLocks xmlns:a="http://schemas.openxmlformats.org/drawingml/2006/main" noGrp="1"/>
          </p:cNvSpPr>
          <p:nvPr/>
        </p:nvSpPr>
        <p:spPr>
          <a:xfrm xmlns:a="http://schemas.openxmlformats.org/drawingml/2006/main">
            <a:off x="1504950" y="20193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A Bar resolution</a:t>
            </a:r>
          </a:p>
        </p:txBody>
      </p:sp>
      <p:sp>
        <p:nvSpPr>
          <p:cNvPr id="10" name="step-body-01">
            <a:extLst xmlns:a="http://schemas.openxmlformats.org/drawingml/2006/main">
              <a:ext uri="{FF2B5EF4-FFF2-40B4-BE49-F238E27FC236}">
                <a16:creationId xmlns:a16="http://schemas.microsoft.com/office/drawing/2014/main" id="{97A2D74E-97D4-4463-B80D-F70D675CFBB5}"/>
              </a:ext>
            </a:extLst>
          </p:cNvPr>
          <p:cNvSpPr>
            <a:spLocks xmlns:a="http://schemas.openxmlformats.org/drawingml/2006/main" noGrp="1"/>
          </p:cNvSpPr>
          <p:nvPr/>
        </p:nvSpPr>
        <p:spPr>
          <a:xfrm xmlns:a="http://schemas.openxmlformats.org/drawingml/2006/main">
            <a:off x="1504950" y="23812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No Coimbatore Bar member would defend the accused policemen in the criminal case.</a:t>
            </a:r>
          </a:p>
        </p:txBody>
      </p:sp>
      <p:sp>
        <p:nvSpPr>
          <p:cNvPr id="11" name="step-number-02">
            <a:extLst xmlns:a="http://schemas.openxmlformats.org/drawingml/2006/main">
              <a:ext uri="{FF2B5EF4-FFF2-40B4-BE49-F238E27FC236}">
                <a16:creationId xmlns:a16="http://schemas.microsoft.com/office/drawing/2014/main" id="{E697D9F6-2232-4963-8E42-85B9CBC9D996}"/>
              </a:ext>
            </a:extLst>
          </p:cNvPr>
          <p:cNvSpPr>
            <a:spLocks xmlns:a="http://schemas.openxmlformats.org/drawingml/2006/main" noGrp="1"/>
          </p:cNvSpPr>
          <p:nvPr/>
        </p:nvSpPr>
        <p:spPr>
          <a:xfrm xmlns:a="http://schemas.openxmlformats.org/drawingml/2006/main">
            <a:off x="685800" y="33147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B88A43"/>
                </a:solidFill>
              </a:defRPr>
            </a:defPPr>
            <a:lvl1pPr algn="l">
              <a:defRPr sz="1650" b="1">
                <a:solidFill>
                  <a:srgbClr val="B88A43"/>
                </a:solidFill>
              </a:defRPr>
            </a:lvl1pPr>
            <a:lvl2pPr algn="l">
              <a:defRPr sz="1650" b="1">
                <a:solidFill>
                  <a:srgbClr val="B88A43"/>
                </a:solidFill>
              </a:defRPr>
            </a:lvl2pPr>
            <a:lvl3pPr algn="l">
              <a:defRPr sz="1650" b="1">
                <a:solidFill>
                  <a:srgbClr val="B88A43"/>
                </a:solidFill>
              </a:defRPr>
            </a:lvl3pPr>
            <a:lvl4pPr algn="l">
              <a:defRPr sz="1650" b="1">
                <a:solidFill>
                  <a:srgbClr val="B88A43"/>
                </a:solidFill>
              </a:defRPr>
            </a:lvl4pPr>
            <a:lvl5pPr algn="l">
              <a:defRPr sz="1650" b="1">
                <a:solidFill>
                  <a:srgbClr val="B88A43"/>
                </a:solidFill>
              </a:defRPr>
            </a:lvl5pPr>
            <a:lvl6pPr algn="l">
              <a:defRPr sz="1650" b="1">
                <a:solidFill>
                  <a:srgbClr val="B88A43"/>
                </a:solidFill>
              </a:defRPr>
            </a:lvl6pPr>
            <a:lvl7pPr algn="l">
              <a:defRPr sz="1650" b="1">
                <a:solidFill>
                  <a:srgbClr val="B88A43"/>
                </a:solidFill>
              </a:defRPr>
            </a:lvl7pPr>
            <a:lvl8pPr algn="l">
              <a:defRPr sz="1650" b="1">
                <a:solidFill>
                  <a:srgbClr val="B88A43"/>
                </a:solidFill>
              </a:defRPr>
            </a:lvl8pPr>
            <a:lvl9pPr algn="l">
              <a:defRPr sz="1650" b="1">
                <a:solidFill>
                  <a:srgbClr val="B88A43"/>
                </a:solidFill>
              </a:defRPr>
            </a:lvl9pPr>
          </a:lstStyle>
          <a:p xmlns:a="http://schemas.openxmlformats.org/drawingml/2006/main">
            <a:pPr algn="l">
              <a:defRPr sz="1650" b="1">
                <a:solidFill>
                  <a:srgbClr val="B88A43"/>
                </a:solidFill>
              </a:defRPr>
            </a:pPr>
            <a:r>
              <a:rPr sz="1650" b="1">
                <a:solidFill>
                  <a:srgbClr val="B88A43"/>
                </a:solidFill>
              </a:rPr>
              <a:t>02</a:t>
            </a:r>
          </a:p>
        </p:txBody>
      </p:sp>
      <p:sp>
        <p:nvSpPr>
          <p:cNvPr id="12" name="step-head-02">
            <a:extLst xmlns:a="http://schemas.openxmlformats.org/drawingml/2006/main">
              <a:ext uri="{FF2B5EF4-FFF2-40B4-BE49-F238E27FC236}">
                <a16:creationId xmlns:a16="http://schemas.microsoft.com/office/drawing/2014/main" id="{7B8606DB-754E-4A8E-AB77-7DA2C7E96A62}"/>
              </a:ext>
            </a:extLst>
          </p:cNvPr>
          <p:cNvSpPr>
            <a:spLocks xmlns:a="http://schemas.openxmlformats.org/drawingml/2006/main" noGrp="1"/>
          </p:cNvSpPr>
          <p:nvPr/>
        </p:nvSpPr>
        <p:spPr>
          <a:xfrm xmlns:a="http://schemas.openxmlformats.org/drawingml/2006/main">
            <a:off x="1504950" y="33147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A broader concern</a:t>
            </a:r>
          </a:p>
        </p:txBody>
      </p:sp>
      <p:sp>
        <p:nvSpPr>
          <p:cNvPr id="13" name="step-body-02">
            <a:extLst xmlns:a="http://schemas.openxmlformats.org/drawingml/2006/main">
              <a:ext uri="{FF2B5EF4-FFF2-40B4-BE49-F238E27FC236}">
                <a16:creationId xmlns:a16="http://schemas.microsoft.com/office/drawing/2014/main" id="{874D221B-F1E7-48D2-A950-188D304D51C8}"/>
              </a:ext>
            </a:extLst>
          </p:cNvPr>
          <p:cNvSpPr>
            <a:spLocks xmlns:a="http://schemas.openxmlformats.org/drawingml/2006/main" noGrp="1"/>
          </p:cNvSpPr>
          <p:nvPr/>
        </p:nvSpPr>
        <p:spPr>
          <a:xfrm xmlns:a="http://schemas.openxmlformats.org/drawingml/2006/main">
            <a:off x="1504950" y="36766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The Court noted similar boycotts aimed at particular accused persons in other cases.</a:t>
            </a:r>
          </a:p>
        </p:txBody>
      </p:sp>
      <p:sp>
        <p:nvSpPr>
          <p:cNvPr id="14" name="step-number-03">
            <a:extLst xmlns:a="http://schemas.openxmlformats.org/drawingml/2006/main">
              <a:ext uri="{FF2B5EF4-FFF2-40B4-BE49-F238E27FC236}">
                <a16:creationId xmlns:a16="http://schemas.microsoft.com/office/drawing/2014/main" id="{14962EA0-0B1A-4B75-947D-6BDA50814F40}"/>
              </a:ext>
            </a:extLst>
          </p:cNvPr>
          <p:cNvSpPr>
            <a:spLocks xmlns:a="http://schemas.openxmlformats.org/drawingml/2006/main" noGrp="1"/>
          </p:cNvSpPr>
          <p:nvPr/>
        </p:nvSpPr>
        <p:spPr>
          <a:xfrm xmlns:a="http://schemas.openxmlformats.org/drawingml/2006/main">
            <a:off x="685800" y="461010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B88A43"/>
                </a:solidFill>
              </a:defRPr>
            </a:defPPr>
            <a:lvl1pPr algn="l">
              <a:defRPr sz="1650" b="1">
                <a:solidFill>
                  <a:srgbClr val="B88A43"/>
                </a:solidFill>
              </a:defRPr>
            </a:lvl1pPr>
            <a:lvl2pPr algn="l">
              <a:defRPr sz="1650" b="1">
                <a:solidFill>
                  <a:srgbClr val="B88A43"/>
                </a:solidFill>
              </a:defRPr>
            </a:lvl2pPr>
            <a:lvl3pPr algn="l">
              <a:defRPr sz="1650" b="1">
                <a:solidFill>
                  <a:srgbClr val="B88A43"/>
                </a:solidFill>
              </a:defRPr>
            </a:lvl3pPr>
            <a:lvl4pPr algn="l">
              <a:defRPr sz="1650" b="1">
                <a:solidFill>
                  <a:srgbClr val="B88A43"/>
                </a:solidFill>
              </a:defRPr>
            </a:lvl4pPr>
            <a:lvl5pPr algn="l">
              <a:defRPr sz="1650" b="1">
                <a:solidFill>
                  <a:srgbClr val="B88A43"/>
                </a:solidFill>
              </a:defRPr>
            </a:lvl5pPr>
            <a:lvl6pPr algn="l">
              <a:defRPr sz="1650" b="1">
                <a:solidFill>
                  <a:srgbClr val="B88A43"/>
                </a:solidFill>
              </a:defRPr>
            </a:lvl6pPr>
            <a:lvl7pPr algn="l">
              <a:defRPr sz="1650" b="1">
                <a:solidFill>
                  <a:srgbClr val="B88A43"/>
                </a:solidFill>
              </a:defRPr>
            </a:lvl7pPr>
            <a:lvl8pPr algn="l">
              <a:defRPr sz="1650" b="1">
                <a:solidFill>
                  <a:srgbClr val="B88A43"/>
                </a:solidFill>
              </a:defRPr>
            </a:lvl8pPr>
            <a:lvl9pPr algn="l">
              <a:defRPr sz="1650" b="1">
                <a:solidFill>
                  <a:srgbClr val="B88A43"/>
                </a:solidFill>
              </a:defRPr>
            </a:lvl9pPr>
          </a:lstStyle>
          <a:p xmlns:a="http://schemas.openxmlformats.org/drawingml/2006/main">
            <a:pPr algn="l">
              <a:defRPr sz="1650" b="1">
                <a:solidFill>
                  <a:srgbClr val="B88A43"/>
                </a:solidFill>
              </a:defRPr>
            </a:pPr>
            <a:r>
              <a:rPr sz="1650" b="1">
                <a:solidFill>
                  <a:srgbClr val="B88A43"/>
                </a:solidFill>
              </a:rPr>
              <a:t>03</a:t>
            </a:r>
          </a:p>
        </p:txBody>
      </p:sp>
      <p:sp>
        <p:nvSpPr>
          <p:cNvPr id="15" name="step-head-03">
            <a:extLst xmlns:a="http://schemas.openxmlformats.org/drawingml/2006/main">
              <a:ext uri="{FF2B5EF4-FFF2-40B4-BE49-F238E27FC236}">
                <a16:creationId xmlns:a16="http://schemas.microsoft.com/office/drawing/2014/main" id="{CFD04B31-8D2F-44BD-9B64-995E6E4E0FCA}"/>
              </a:ext>
            </a:extLst>
          </p:cNvPr>
          <p:cNvSpPr>
            <a:spLocks xmlns:a="http://schemas.openxmlformats.org/drawingml/2006/main" noGrp="1"/>
          </p:cNvSpPr>
          <p:nvPr/>
        </p:nvSpPr>
        <p:spPr>
          <a:xfrm xmlns:a="http://schemas.openxmlformats.org/drawingml/2006/main">
            <a:off x="1504950" y="4610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A question of principle</a:t>
            </a:r>
          </a:p>
        </p:txBody>
      </p:sp>
      <p:sp>
        <p:nvSpPr>
          <p:cNvPr id="16" name="step-body-03">
            <a:extLst xmlns:a="http://schemas.openxmlformats.org/drawingml/2006/main">
              <a:ext uri="{FF2B5EF4-FFF2-40B4-BE49-F238E27FC236}">
                <a16:creationId xmlns:a16="http://schemas.microsoft.com/office/drawing/2014/main" id="{7F99B9B4-5D40-46C1-B62C-A22C7ED5EBDB}"/>
              </a:ext>
            </a:extLst>
          </p:cNvPr>
          <p:cNvSpPr>
            <a:spLocks xmlns:a="http://schemas.openxmlformats.org/drawingml/2006/main" noGrp="1"/>
          </p:cNvSpPr>
          <p:nvPr/>
        </p:nvSpPr>
        <p:spPr>
          <a:xfrm xmlns:a="http://schemas.openxmlformats.org/drawingml/2006/main">
            <a:off x="1504950" y="4972050"/>
            <a:ext cx="447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Does professional choice belong to each advocate, or can a Bar association impose a collective refusal?</a:t>
            </a:r>
          </a:p>
        </p:txBody>
      </p:sp>
      <p:sp>
        <p:nvSpPr>
          <p:cNvPr id="17" name="right-panel">
            <a:extLst xmlns:a="http://schemas.openxmlformats.org/drawingml/2006/main">
              <a:ext uri="{FF2B5EF4-FFF2-40B4-BE49-F238E27FC236}">
                <a16:creationId xmlns:a16="http://schemas.microsoft.com/office/drawing/2014/main" id="{1418E37C-5160-418A-AC4D-47844DB86A8B}"/>
              </a:ext>
            </a:extLst>
          </p:cNvPr>
          <p:cNvSpPr>
            <a:spLocks xmlns:a="http://schemas.openxmlformats.org/drawingml/2006/main" noGrp="1"/>
          </p:cNvSpPr>
          <p:nvPr/>
        </p:nvSpPr>
        <p:spPr>
          <a:xfrm xmlns:a="http://schemas.openxmlformats.org/drawingml/2006/main">
            <a:off x="6667500" y="1695450"/>
            <a:ext cx="4762500" cy="3714750"/>
          </a:xfrm>
          <a:prstGeom xmlns:a="http://schemas.openxmlformats.org/drawingml/2006/main" prst="rect">
            <a:avLst/>
          </a:prstGeom>
          <a:solidFill xmlns:a="http://schemas.openxmlformats.org/drawingml/2006/main">
            <a:srgbClr val="17242B"/>
          </a:solidFill>
          <a:ln xmlns:a="http://schemas.openxmlformats.org/drawingml/2006/main" w="0">
            <a:noFill/>
            <a:prstDash val="solid"/>
          </a:ln>
        </p:spPr>
      </p:sp>
      <p:sp>
        <p:nvSpPr>
          <p:cNvPr id="18" name="right-panel-label">
            <a:extLst xmlns:a="http://schemas.openxmlformats.org/drawingml/2006/main">
              <a:ext uri="{FF2B5EF4-FFF2-40B4-BE49-F238E27FC236}">
                <a16:creationId xmlns:a16="http://schemas.microsoft.com/office/drawing/2014/main" id="{DCA624F0-5A4B-431D-911E-7341CAC718D7}"/>
              </a:ext>
            </a:extLst>
          </p:cNvPr>
          <p:cNvSpPr>
            <a:spLocks xmlns:a="http://schemas.openxmlformats.org/drawingml/2006/main" noGrp="1"/>
          </p:cNvSpPr>
          <p:nvPr/>
        </p:nvSpPr>
        <p:spPr>
          <a:xfrm xmlns:a="http://schemas.openxmlformats.org/drawingml/2006/main">
            <a:off x="7067550" y="20764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D6B66F"/>
                </a:solidFill>
              </a:defRPr>
            </a:defPPr>
            <a:lvl1pPr algn="l">
              <a:defRPr sz="1200" b="1">
                <a:solidFill>
                  <a:srgbClr val="D6B66F"/>
                </a:solidFill>
              </a:defRPr>
            </a:lvl1pPr>
            <a:lvl2pPr algn="l">
              <a:defRPr sz="1200" b="1">
                <a:solidFill>
                  <a:srgbClr val="D6B66F"/>
                </a:solidFill>
              </a:defRPr>
            </a:lvl2pPr>
            <a:lvl3pPr algn="l">
              <a:defRPr sz="1200" b="1">
                <a:solidFill>
                  <a:srgbClr val="D6B66F"/>
                </a:solidFill>
              </a:defRPr>
            </a:lvl3pPr>
            <a:lvl4pPr algn="l">
              <a:defRPr sz="1200" b="1">
                <a:solidFill>
                  <a:srgbClr val="D6B66F"/>
                </a:solidFill>
              </a:defRPr>
            </a:lvl4pPr>
            <a:lvl5pPr algn="l">
              <a:defRPr sz="1200" b="1">
                <a:solidFill>
                  <a:srgbClr val="D6B66F"/>
                </a:solidFill>
              </a:defRPr>
            </a:lvl5pPr>
            <a:lvl6pPr algn="l">
              <a:defRPr sz="1200" b="1">
                <a:solidFill>
                  <a:srgbClr val="D6B66F"/>
                </a:solidFill>
              </a:defRPr>
            </a:lvl6pPr>
            <a:lvl7pPr algn="l">
              <a:defRPr sz="1200" b="1">
                <a:solidFill>
                  <a:srgbClr val="D6B66F"/>
                </a:solidFill>
              </a:defRPr>
            </a:lvl7pPr>
            <a:lvl8pPr algn="l">
              <a:defRPr sz="1200" b="1">
                <a:solidFill>
                  <a:srgbClr val="D6B66F"/>
                </a:solidFill>
              </a:defRPr>
            </a:lvl8pPr>
            <a:lvl9pPr algn="l">
              <a:defRPr sz="1200" b="1">
                <a:solidFill>
                  <a:srgbClr val="D6B66F"/>
                </a:solidFill>
              </a:defRPr>
            </a:lvl9pPr>
          </a:lstStyle>
          <a:p xmlns:a="http://schemas.openxmlformats.org/drawingml/2006/main">
            <a:pPr algn="l">
              <a:defRPr sz="1200" b="1">
                <a:solidFill>
                  <a:srgbClr val="D6B66F"/>
                </a:solidFill>
              </a:defRPr>
            </a:pPr>
            <a:r>
              <a:rPr sz="1200" b="1">
                <a:solidFill>
                  <a:srgbClr val="D6B66F"/>
                </a:solidFill>
              </a:rPr>
              <a:t>ISSUE</a:t>
            </a:r>
          </a:p>
        </p:txBody>
      </p:sp>
      <p:sp>
        <p:nvSpPr>
          <p:cNvPr id="19" name="right-panel-main">
            <a:extLst xmlns:a="http://schemas.openxmlformats.org/drawingml/2006/main">
              <a:ext uri="{FF2B5EF4-FFF2-40B4-BE49-F238E27FC236}">
                <a16:creationId xmlns:a16="http://schemas.microsoft.com/office/drawing/2014/main" id="{566A16AE-8FBF-452C-B149-1497DC1511A9}"/>
              </a:ext>
            </a:extLst>
          </p:cNvPr>
          <p:cNvSpPr>
            <a:spLocks xmlns:a="http://schemas.openxmlformats.org/drawingml/2006/main" noGrp="1"/>
          </p:cNvSpPr>
          <p:nvPr/>
        </p:nvSpPr>
        <p:spPr>
          <a:xfrm xmlns:a="http://schemas.openxmlformats.org/drawingml/2006/main">
            <a:off x="7067550" y="2571750"/>
            <a:ext cx="3905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FFFFFF"/>
                </a:solidFill>
              </a:defRPr>
            </a:defPPr>
            <a:lvl1pPr algn="l">
              <a:defRPr sz="2025" b="1">
                <a:solidFill>
                  <a:srgbClr val="FFFFFF"/>
                </a:solidFill>
              </a:defRPr>
            </a:lvl1pPr>
            <a:lvl2pPr algn="l">
              <a:defRPr sz="2025" b="1">
                <a:solidFill>
                  <a:srgbClr val="FFFFFF"/>
                </a:solidFill>
              </a:defRPr>
            </a:lvl2pPr>
            <a:lvl3pPr algn="l">
              <a:defRPr sz="2025" b="1">
                <a:solidFill>
                  <a:srgbClr val="FFFFFF"/>
                </a:solidFill>
              </a:defRPr>
            </a:lvl3pPr>
            <a:lvl4pPr algn="l">
              <a:defRPr sz="2025" b="1">
                <a:solidFill>
                  <a:srgbClr val="FFFFFF"/>
                </a:solidFill>
              </a:defRPr>
            </a:lvl4pPr>
            <a:lvl5pPr algn="l">
              <a:defRPr sz="2025" b="1">
                <a:solidFill>
                  <a:srgbClr val="FFFFFF"/>
                </a:solidFill>
              </a:defRPr>
            </a:lvl5pPr>
            <a:lvl6pPr algn="l">
              <a:defRPr sz="2025" b="1">
                <a:solidFill>
                  <a:srgbClr val="FFFFFF"/>
                </a:solidFill>
              </a:defRPr>
            </a:lvl6pPr>
            <a:lvl7pPr algn="l">
              <a:defRPr sz="2025" b="1">
                <a:solidFill>
                  <a:srgbClr val="FFFFFF"/>
                </a:solidFill>
              </a:defRPr>
            </a:lvl7pPr>
            <a:lvl8pPr algn="l">
              <a:defRPr sz="2025" b="1">
                <a:solidFill>
                  <a:srgbClr val="FFFFFF"/>
                </a:solidFill>
              </a:defRPr>
            </a:lvl8pPr>
            <a:lvl9pPr algn="l">
              <a:defRPr sz="2025" b="1">
                <a:solidFill>
                  <a:srgbClr val="FFFFFF"/>
                </a:solidFill>
              </a:defRPr>
            </a:lvl9pPr>
          </a:lstStyle>
          <a:p xmlns:a="http://schemas.openxmlformats.org/drawingml/2006/main">
            <a:pPr algn="l">
              <a:defRPr sz="2025" b="1">
                <a:solidFill>
                  <a:srgbClr val="FFFFFF"/>
                </a:solidFill>
              </a:defRPr>
            </a:pPr>
            <a:r>
              <a:rPr sz="2025" b="1">
                <a:solidFill>
                  <a:srgbClr val="FFFFFF"/>
                </a:solidFill>
              </a:rPr>
              <a:t>May a Bar Association refuse representation to a named accused or category of accused?</a:t>
            </a:r>
          </a:p>
        </p:txBody>
      </p:sp>
      <p:sp>
        <p:nvSpPr>
          <p:cNvPr id="20" name="right-panel-context">
            <a:extLst xmlns:a="http://schemas.openxmlformats.org/drawingml/2006/main">
              <a:ext uri="{FF2B5EF4-FFF2-40B4-BE49-F238E27FC236}">
                <a16:creationId xmlns:a16="http://schemas.microsoft.com/office/drawing/2014/main" id="{C27E23D8-1019-48F8-8790-5F1415F2465F}"/>
              </a:ext>
            </a:extLst>
          </p:cNvPr>
          <p:cNvSpPr>
            <a:spLocks xmlns:a="http://schemas.openxmlformats.org/drawingml/2006/main" noGrp="1"/>
          </p:cNvSpPr>
          <p:nvPr/>
        </p:nvSpPr>
        <p:spPr>
          <a:xfrm xmlns:a="http://schemas.openxmlformats.org/drawingml/2006/main">
            <a:off x="7067550" y="43434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D5DADF"/>
                </a:solidFill>
              </a:defRPr>
            </a:defPPr>
            <a:lvl1pPr algn="l">
              <a:defRPr sz="1350" b="0">
                <a:solidFill>
                  <a:srgbClr val="D5DADF"/>
                </a:solidFill>
              </a:defRPr>
            </a:lvl1pPr>
            <a:lvl2pPr algn="l">
              <a:defRPr sz="1350" b="0">
                <a:solidFill>
                  <a:srgbClr val="D5DADF"/>
                </a:solidFill>
              </a:defRPr>
            </a:lvl2pPr>
            <a:lvl3pPr algn="l">
              <a:defRPr sz="1350" b="0">
                <a:solidFill>
                  <a:srgbClr val="D5DADF"/>
                </a:solidFill>
              </a:defRPr>
            </a:lvl3pPr>
            <a:lvl4pPr algn="l">
              <a:defRPr sz="1350" b="0">
                <a:solidFill>
                  <a:srgbClr val="D5DADF"/>
                </a:solidFill>
              </a:defRPr>
            </a:lvl4pPr>
            <a:lvl5pPr algn="l">
              <a:defRPr sz="1350" b="0">
                <a:solidFill>
                  <a:srgbClr val="D5DADF"/>
                </a:solidFill>
              </a:defRPr>
            </a:lvl5pPr>
            <a:lvl6pPr algn="l">
              <a:defRPr sz="1350" b="0">
                <a:solidFill>
                  <a:srgbClr val="D5DADF"/>
                </a:solidFill>
              </a:defRPr>
            </a:lvl6pPr>
            <a:lvl7pPr algn="l">
              <a:defRPr sz="1350" b="0">
                <a:solidFill>
                  <a:srgbClr val="D5DADF"/>
                </a:solidFill>
              </a:defRPr>
            </a:lvl7pPr>
            <a:lvl8pPr algn="l">
              <a:defRPr sz="1350" b="0">
                <a:solidFill>
                  <a:srgbClr val="D5DADF"/>
                </a:solidFill>
              </a:defRPr>
            </a:lvl8pPr>
            <a:lvl9pPr algn="l">
              <a:defRPr sz="1350" b="0">
                <a:solidFill>
                  <a:srgbClr val="D5DADF"/>
                </a:solidFill>
              </a:defRPr>
            </a:lvl9pPr>
          </a:lstStyle>
          <a:p xmlns:a="http://schemas.openxmlformats.org/drawingml/2006/main">
            <a:pPr algn="l">
              <a:defRPr sz="1350" b="0">
                <a:solidFill>
                  <a:srgbClr val="D5DADF"/>
                </a:solidFill>
              </a:defRPr>
            </a:pPr>
            <a:r>
              <a:rPr sz="1350" b="0">
                <a:solidFill>
                  <a:srgbClr val="D5DADF"/>
                </a:solidFill>
              </a:rPr>
              <a:t>The Court considered Article 22(1) and the Bar Council of India Rules on professional conduct.</a:t>
            </a:r>
          </a:p>
        </p:txBody>
      </p:sp>
    </p:spTree>
    <p:extLst>
      <p:ext uri="{BB962C8B-B14F-4D97-AF65-F5344CB8AC3E}">
        <p14:creationId xmlns:p14="http://schemas.microsoft.com/office/powerpoint/2010/main" val="1858166192"/>
      </p:ext>
    </p:extLst>
  </p:cSld>
</p:sld>
</file>

<file path=ppt/slides/slide4.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B3A8FD67-5366-4509-ABCE-2612AFF7C25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253C2D77-257B-4226-96E7-4EE0088550B3}"/>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REASONING</a:t>
            </a:r>
          </a:p>
        </p:txBody>
      </p:sp>
      <p:sp>
        <p:nvSpPr>
          <p:cNvPr id="3" name="slide-title">
            <a:extLst xmlns:a="http://schemas.openxmlformats.org/drawingml/2006/main">
              <a:ext uri="{FF2B5EF4-FFF2-40B4-BE49-F238E27FC236}">
                <a16:creationId xmlns:a16="http://schemas.microsoft.com/office/drawing/2014/main" id="{618F0605-458E-42F1-8EF4-A75A9B85291A}"/>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Two legal anchors</a:t>
            </a:r>
          </a:p>
        </p:txBody>
      </p:sp>
      <p:sp>
        <p:nvSpPr>
          <p:cNvPr id="4" name="footer-rule">
            <a:extLst xmlns:a="http://schemas.openxmlformats.org/drawingml/2006/main">
              <a:ext uri="{FF2B5EF4-FFF2-40B4-BE49-F238E27FC236}">
                <a16:creationId xmlns:a16="http://schemas.microsoft.com/office/drawing/2014/main" id="{033B893D-C9F5-49AE-8A2A-8CA6F24A5D82}"/>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429D390E-1EBB-4134-88CB-A3BE35B13838}"/>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5357E245-FFF4-4E05-B932-3F80EECDFC98}"/>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04</a:t>
            </a:r>
          </a:p>
        </p:txBody>
      </p:sp>
      <p:sp>
        <p:nvSpPr>
          <p:cNvPr id="7" name="anchor1-num">
            <a:extLst xmlns:a="http://schemas.openxmlformats.org/drawingml/2006/main">
              <a:ext uri="{FF2B5EF4-FFF2-40B4-BE49-F238E27FC236}">
                <a16:creationId xmlns:a16="http://schemas.microsoft.com/office/drawing/2014/main" id="{2CCD2D4E-523D-4F35-A67D-49AB393D1B4A}"/>
              </a:ext>
            </a:extLst>
          </p:cNvPr>
          <p:cNvSpPr>
            <a:spLocks xmlns:a="http://schemas.openxmlformats.org/drawingml/2006/main" noGrp="1"/>
          </p:cNvSpPr>
          <p:nvPr/>
        </p:nvSpPr>
        <p:spPr>
          <a:xfrm xmlns:a="http://schemas.openxmlformats.org/drawingml/2006/main">
            <a:off x="685800" y="167640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B88A43"/>
                </a:solidFill>
              </a:defRPr>
            </a:defPPr>
            <a:lvl1pPr algn="l">
              <a:defRPr sz="1950" b="1">
                <a:solidFill>
                  <a:srgbClr val="B88A43"/>
                </a:solidFill>
              </a:defRPr>
            </a:lvl1pPr>
            <a:lvl2pPr algn="l">
              <a:defRPr sz="1950" b="1">
                <a:solidFill>
                  <a:srgbClr val="B88A43"/>
                </a:solidFill>
              </a:defRPr>
            </a:lvl2pPr>
            <a:lvl3pPr algn="l">
              <a:defRPr sz="1950" b="1">
                <a:solidFill>
                  <a:srgbClr val="B88A43"/>
                </a:solidFill>
              </a:defRPr>
            </a:lvl3pPr>
            <a:lvl4pPr algn="l">
              <a:defRPr sz="1950" b="1">
                <a:solidFill>
                  <a:srgbClr val="B88A43"/>
                </a:solidFill>
              </a:defRPr>
            </a:lvl4pPr>
            <a:lvl5pPr algn="l">
              <a:defRPr sz="1950" b="1">
                <a:solidFill>
                  <a:srgbClr val="B88A43"/>
                </a:solidFill>
              </a:defRPr>
            </a:lvl5pPr>
            <a:lvl6pPr algn="l">
              <a:defRPr sz="1950" b="1">
                <a:solidFill>
                  <a:srgbClr val="B88A43"/>
                </a:solidFill>
              </a:defRPr>
            </a:lvl6pPr>
            <a:lvl7pPr algn="l">
              <a:defRPr sz="1950" b="1">
                <a:solidFill>
                  <a:srgbClr val="B88A43"/>
                </a:solidFill>
              </a:defRPr>
            </a:lvl7pPr>
            <a:lvl8pPr algn="l">
              <a:defRPr sz="1950" b="1">
                <a:solidFill>
                  <a:srgbClr val="B88A43"/>
                </a:solidFill>
              </a:defRPr>
            </a:lvl8pPr>
            <a:lvl9pPr algn="l">
              <a:defRPr sz="1950" b="1">
                <a:solidFill>
                  <a:srgbClr val="B88A43"/>
                </a:solidFill>
              </a:defRPr>
            </a:lvl9pPr>
          </a:lstStyle>
          <a:p xmlns:a="http://schemas.openxmlformats.org/drawingml/2006/main">
            <a:pPr algn="l">
              <a:defRPr sz="1950" b="1">
                <a:solidFill>
                  <a:srgbClr val="B88A43"/>
                </a:solidFill>
              </a:defRPr>
            </a:pPr>
            <a:r>
              <a:rPr sz="1950" b="1">
                <a:solidFill>
                  <a:srgbClr val="B88A43"/>
                </a:solidFill>
              </a:rPr>
              <a:t>01</a:t>
            </a:r>
          </a:p>
        </p:txBody>
      </p:sp>
      <p:sp>
        <p:nvSpPr>
          <p:cNvPr id="8" name="anchor1-title">
            <a:extLst xmlns:a="http://schemas.openxmlformats.org/drawingml/2006/main">
              <a:ext uri="{FF2B5EF4-FFF2-40B4-BE49-F238E27FC236}">
                <a16:creationId xmlns:a16="http://schemas.microsoft.com/office/drawing/2014/main" id="{FBD7245F-A814-4570-A691-268FF85B567E}"/>
              </a:ext>
            </a:extLst>
          </p:cNvPr>
          <p:cNvSpPr>
            <a:spLocks xmlns:a="http://schemas.openxmlformats.org/drawingml/2006/main" noGrp="1"/>
          </p:cNvSpPr>
          <p:nvPr/>
        </p:nvSpPr>
        <p:spPr>
          <a:xfrm xmlns:a="http://schemas.openxmlformats.org/drawingml/2006/main">
            <a:off x="1638300" y="1676400"/>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7242B"/>
                </a:solidFill>
              </a:defRPr>
            </a:defPPr>
            <a:lvl1pPr algn="l">
              <a:defRPr sz="2325" b="1">
                <a:solidFill>
                  <a:srgbClr val="17242B"/>
                </a:solidFill>
              </a:defRPr>
            </a:lvl1pPr>
            <a:lvl2pPr algn="l">
              <a:defRPr sz="2325" b="1">
                <a:solidFill>
                  <a:srgbClr val="17242B"/>
                </a:solidFill>
              </a:defRPr>
            </a:lvl2pPr>
            <a:lvl3pPr algn="l">
              <a:defRPr sz="2325" b="1">
                <a:solidFill>
                  <a:srgbClr val="17242B"/>
                </a:solidFill>
              </a:defRPr>
            </a:lvl3pPr>
            <a:lvl4pPr algn="l">
              <a:defRPr sz="2325" b="1">
                <a:solidFill>
                  <a:srgbClr val="17242B"/>
                </a:solidFill>
              </a:defRPr>
            </a:lvl4pPr>
            <a:lvl5pPr algn="l">
              <a:defRPr sz="2325" b="1">
                <a:solidFill>
                  <a:srgbClr val="17242B"/>
                </a:solidFill>
              </a:defRPr>
            </a:lvl5pPr>
            <a:lvl6pPr algn="l">
              <a:defRPr sz="2325" b="1">
                <a:solidFill>
                  <a:srgbClr val="17242B"/>
                </a:solidFill>
              </a:defRPr>
            </a:lvl6pPr>
            <a:lvl7pPr algn="l">
              <a:defRPr sz="2325" b="1">
                <a:solidFill>
                  <a:srgbClr val="17242B"/>
                </a:solidFill>
              </a:defRPr>
            </a:lvl7pPr>
            <a:lvl8pPr algn="l">
              <a:defRPr sz="2325" b="1">
                <a:solidFill>
                  <a:srgbClr val="17242B"/>
                </a:solidFill>
              </a:defRPr>
            </a:lvl8pPr>
            <a:lvl9pPr algn="l">
              <a:defRPr sz="2325" b="1">
                <a:solidFill>
                  <a:srgbClr val="17242B"/>
                </a:solidFill>
              </a:defRPr>
            </a:lvl9pPr>
          </a:lstStyle>
          <a:p xmlns:a="http://schemas.openxmlformats.org/drawingml/2006/main">
            <a:pPr algn="l">
              <a:defRPr sz="2325" b="1">
                <a:solidFill>
                  <a:srgbClr val="17242B"/>
                </a:solidFill>
              </a:defRPr>
            </a:pPr>
            <a:r>
              <a:rPr sz="2325" b="1">
                <a:solidFill>
                  <a:srgbClr val="17242B"/>
                </a:solidFill>
              </a:rPr>
              <a:t>Article 22(1)</a:t>
            </a:r>
          </a:p>
        </p:txBody>
      </p:sp>
      <p:sp>
        <p:nvSpPr>
          <p:cNvPr id="9" name="anchor1-text">
            <a:extLst xmlns:a="http://schemas.openxmlformats.org/drawingml/2006/main">
              <a:ext uri="{FF2B5EF4-FFF2-40B4-BE49-F238E27FC236}">
                <a16:creationId xmlns:a16="http://schemas.microsoft.com/office/drawing/2014/main" id="{E8F8F9A9-01D1-4903-BE3A-17ED27050F95}"/>
              </a:ext>
            </a:extLst>
          </p:cNvPr>
          <p:cNvSpPr>
            <a:spLocks xmlns:a="http://schemas.openxmlformats.org/drawingml/2006/main" noGrp="1"/>
          </p:cNvSpPr>
          <p:nvPr/>
        </p:nvSpPr>
        <p:spPr>
          <a:xfrm xmlns:a="http://schemas.openxmlformats.org/drawingml/2006/main">
            <a:off x="1638300" y="2190750"/>
            <a:ext cx="4000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627078"/>
                </a:solidFill>
              </a:defRPr>
            </a:defPPr>
            <a:lvl1pPr algn="l">
              <a:defRPr sz="1725" b="0">
                <a:solidFill>
                  <a:srgbClr val="627078"/>
                </a:solidFill>
              </a:defRPr>
            </a:lvl1pPr>
            <a:lvl2pPr algn="l">
              <a:defRPr sz="1725" b="0">
                <a:solidFill>
                  <a:srgbClr val="627078"/>
                </a:solidFill>
              </a:defRPr>
            </a:lvl2pPr>
            <a:lvl3pPr algn="l">
              <a:defRPr sz="1725" b="0">
                <a:solidFill>
                  <a:srgbClr val="627078"/>
                </a:solidFill>
              </a:defRPr>
            </a:lvl3pPr>
            <a:lvl4pPr algn="l">
              <a:defRPr sz="1725" b="0">
                <a:solidFill>
                  <a:srgbClr val="627078"/>
                </a:solidFill>
              </a:defRPr>
            </a:lvl4pPr>
            <a:lvl5pPr algn="l">
              <a:defRPr sz="1725" b="0">
                <a:solidFill>
                  <a:srgbClr val="627078"/>
                </a:solidFill>
              </a:defRPr>
            </a:lvl5pPr>
            <a:lvl6pPr algn="l">
              <a:defRPr sz="1725" b="0">
                <a:solidFill>
                  <a:srgbClr val="627078"/>
                </a:solidFill>
              </a:defRPr>
            </a:lvl6pPr>
            <a:lvl7pPr algn="l">
              <a:defRPr sz="1725" b="0">
                <a:solidFill>
                  <a:srgbClr val="627078"/>
                </a:solidFill>
              </a:defRPr>
            </a:lvl7pPr>
            <a:lvl8pPr algn="l">
              <a:defRPr sz="1725" b="0">
                <a:solidFill>
                  <a:srgbClr val="627078"/>
                </a:solidFill>
              </a:defRPr>
            </a:lvl8pPr>
            <a:lvl9pPr algn="l">
              <a:defRPr sz="1725" b="0">
                <a:solidFill>
                  <a:srgbClr val="627078"/>
                </a:solidFill>
              </a:defRPr>
            </a:lvl9pPr>
          </a:lstStyle>
          <a:p xmlns:a="http://schemas.openxmlformats.org/drawingml/2006/main">
            <a:pPr algn="l">
              <a:defRPr sz="1725" b="0">
                <a:solidFill>
                  <a:srgbClr val="627078"/>
                </a:solidFill>
              </a:defRPr>
            </a:pPr>
            <a:r>
              <a:rPr sz="1725" b="0">
                <a:solidFill>
                  <a:srgbClr val="627078"/>
                </a:solidFill>
              </a:rPr>
              <a:t>An arrested person must not be denied the right to consult and be defended by a legal practitioner of their choice.</a:t>
            </a:r>
          </a:p>
        </p:txBody>
      </p:sp>
      <p:sp>
        <p:nvSpPr>
          <p:cNvPr id="10" name="middle-line">
            <a:extLst xmlns:a="http://schemas.openxmlformats.org/drawingml/2006/main">
              <a:ext uri="{FF2B5EF4-FFF2-40B4-BE49-F238E27FC236}">
                <a16:creationId xmlns:a16="http://schemas.microsoft.com/office/drawing/2014/main" id="{BC3A3851-3E63-46CA-BE99-8B5CB05D4293}"/>
              </a:ext>
            </a:extLst>
          </p:cNvPr>
          <p:cNvSpPr>
            <a:spLocks xmlns:a="http://schemas.openxmlformats.org/drawingml/2006/main" noGrp="1"/>
          </p:cNvSpPr>
          <p:nvPr/>
        </p:nvSpPr>
        <p:spPr>
          <a:xfrm xmlns:a="http://schemas.openxmlformats.org/drawingml/2006/main">
            <a:off x="6096000" y="1657350"/>
            <a:ext cx="19050" cy="3714750"/>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11" name="anchor2-num">
            <a:extLst xmlns:a="http://schemas.openxmlformats.org/drawingml/2006/main">
              <a:ext uri="{FF2B5EF4-FFF2-40B4-BE49-F238E27FC236}">
                <a16:creationId xmlns:a16="http://schemas.microsoft.com/office/drawing/2014/main" id="{4854C462-5F2C-415D-A87D-D946446D02F4}"/>
              </a:ext>
            </a:extLst>
          </p:cNvPr>
          <p:cNvSpPr>
            <a:spLocks xmlns:a="http://schemas.openxmlformats.org/drawingml/2006/main" noGrp="1"/>
          </p:cNvSpPr>
          <p:nvPr/>
        </p:nvSpPr>
        <p:spPr>
          <a:xfrm xmlns:a="http://schemas.openxmlformats.org/drawingml/2006/main">
            <a:off x="6667500" y="167640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B88A43"/>
                </a:solidFill>
              </a:defRPr>
            </a:defPPr>
            <a:lvl1pPr algn="l">
              <a:defRPr sz="1950" b="1">
                <a:solidFill>
                  <a:srgbClr val="B88A43"/>
                </a:solidFill>
              </a:defRPr>
            </a:lvl1pPr>
            <a:lvl2pPr algn="l">
              <a:defRPr sz="1950" b="1">
                <a:solidFill>
                  <a:srgbClr val="B88A43"/>
                </a:solidFill>
              </a:defRPr>
            </a:lvl2pPr>
            <a:lvl3pPr algn="l">
              <a:defRPr sz="1950" b="1">
                <a:solidFill>
                  <a:srgbClr val="B88A43"/>
                </a:solidFill>
              </a:defRPr>
            </a:lvl3pPr>
            <a:lvl4pPr algn="l">
              <a:defRPr sz="1950" b="1">
                <a:solidFill>
                  <a:srgbClr val="B88A43"/>
                </a:solidFill>
              </a:defRPr>
            </a:lvl4pPr>
            <a:lvl5pPr algn="l">
              <a:defRPr sz="1950" b="1">
                <a:solidFill>
                  <a:srgbClr val="B88A43"/>
                </a:solidFill>
              </a:defRPr>
            </a:lvl5pPr>
            <a:lvl6pPr algn="l">
              <a:defRPr sz="1950" b="1">
                <a:solidFill>
                  <a:srgbClr val="B88A43"/>
                </a:solidFill>
              </a:defRPr>
            </a:lvl6pPr>
            <a:lvl7pPr algn="l">
              <a:defRPr sz="1950" b="1">
                <a:solidFill>
                  <a:srgbClr val="B88A43"/>
                </a:solidFill>
              </a:defRPr>
            </a:lvl7pPr>
            <a:lvl8pPr algn="l">
              <a:defRPr sz="1950" b="1">
                <a:solidFill>
                  <a:srgbClr val="B88A43"/>
                </a:solidFill>
              </a:defRPr>
            </a:lvl8pPr>
            <a:lvl9pPr algn="l">
              <a:defRPr sz="1950" b="1">
                <a:solidFill>
                  <a:srgbClr val="B88A43"/>
                </a:solidFill>
              </a:defRPr>
            </a:lvl9pPr>
          </a:lstStyle>
          <a:p xmlns:a="http://schemas.openxmlformats.org/drawingml/2006/main">
            <a:pPr algn="l">
              <a:defRPr sz="1950" b="1">
                <a:solidFill>
                  <a:srgbClr val="B88A43"/>
                </a:solidFill>
              </a:defRPr>
            </a:pPr>
            <a:r>
              <a:rPr sz="1950" b="1">
                <a:solidFill>
                  <a:srgbClr val="B88A43"/>
                </a:solidFill>
              </a:rPr>
              <a:t>02</a:t>
            </a:r>
          </a:p>
        </p:txBody>
      </p:sp>
      <p:sp>
        <p:nvSpPr>
          <p:cNvPr id="12" name="anchor2-title">
            <a:extLst xmlns:a="http://schemas.openxmlformats.org/drawingml/2006/main">
              <a:ext uri="{FF2B5EF4-FFF2-40B4-BE49-F238E27FC236}">
                <a16:creationId xmlns:a16="http://schemas.microsoft.com/office/drawing/2014/main" id="{6445BE1E-209C-40ED-8BA2-27B0AE87BF35}"/>
              </a:ext>
            </a:extLst>
          </p:cNvPr>
          <p:cNvSpPr>
            <a:spLocks xmlns:a="http://schemas.openxmlformats.org/drawingml/2006/main" noGrp="1"/>
          </p:cNvSpPr>
          <p:nvPr/>
        </p:nvSpPr>
        <p:spPr>
          <a:xfrm xmlns:a="http://schemas.openxmlformats.org/drawingml/2006/main">
            <a:off x="7620000" y="1676400"/>
            <a:ext cx="381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17242B"/>
                </a:solidFill>
              </a:defRPr>
            </a:defPPr>
            <a:lvl1pPr algn="l">
              <a:defRPr sz="2325" b="1">
                <a:solidFill>
                  <a:srgbClr val="17242B"/>
                </a:solidFill>
              </a:defRPr>
            </a:lvl1pPr>
            <a:lvl2pPr algn="l">
              <a:defRPr sz="2325" b="1">
                <a:solidFill>
                  <a:srgbClr val="17242B"/>
                </a:solidFill>
              </a:defRPr>
            </a:lvl2pPr>
            <a:lvl3pPr algn="l">
              <a:defRPr sz="2325" b="1">
                <a:solidFill>
                  <a:srgbClr val="17242B"/>
                </a:solidFill>
              </a:defRPr>
            </a:lvl3pPr>
            <a:lvl4pPr algn="l">
              <a:defRPr sz="2325" b="1">
                <a:solidFill>
                  <a:srgbClr val="17242B"/>
                </a:solidFill>
              </a:defRPr>
            </a:lvl4pPr>
            <a:lvl5pPr algn="l">
              <a:defRPr sz="2325" b="1">
                <a:solidFill>
                  <a:srgbClr val="17242B"/>
                </a:solidFill>
              </a:defRPr>
            </a:lvl5pPr>
            <a:lvl6pPr algn="l">
              <a:defRPr sz="2325" b="1">
                <a:solidFill>
                  <a:srgbClr val="17242B"/>
                </a:solidFill>
              </a:defRPr>
            </a:lvl6pPr>
            <a:lvl7pPr algn="l">
              <a:defRPr sz="2325" b="1">
                <a:solidFill>
                  <a:srgbClr val="17242B"/>
                </a:solidFill>
              </a:defRPr>
            </a:lvl7pPr>
            <a:lvl8pPr algn="l">
              <a:defRPr sz="2325" b="1">
                <a:solidFill>
                  <a:srgbClr val="17242B"/>
                </a:solidFill>
              </a:defRPr>
            </a:lvl8pPr>
            <a:lvl9pPr algn="l">
              <a:defRPr sz="2325" b="1">
                <a:solidFill>
                  <a:srgbClr val="17242B"/>
                </a:solidFill>
              </a:defRPr>
            </a:lvl9pPr>
          </a:lstStyle>
          <a:p xmlns:a="http://schemas.openxmlformats.org/drawingml/2006/main">
            <a:pPr algn="l">
              <a:defRPr sz="2325" b="1">
                <a:solidFill>
                  <a:srgbClr val="17242B"/>
                </a:solidFill>
              </a:defRPr>
            </a:pPr>
            <a:r>
              <a:rPr sz="2325" b="1">
                <a:solidFill>
                  <a:srgbClr val="17242B"/>
                </a:solidFill>
              </a:rPr>
              <a:t>BCI Rules, Chapter II</a:t>
            </a:r>
          </a:p>
        </p:txBody>
      </p:sp>
      <p:sp>
        <p:nvSpPr>
          <p:cNvPr id="13" name="anchor2-text">
            <a:extLst xmlns:a="http://schemas.openxmlformats.org/drawingml/2006/main">
              <a:ext uri="{FF2B5EF4-FFF2-40B4-BE49-F238E27FC236}">
                <a16:creationId xmlns:a16="http://schemas.microsoft.com/office/drawing/2014/main" id="{B075095D-A480-44DD-9E30-2CC4F25E321B}"/>
              </a:ext>
            </a:extLst>
          </p:cNvPr>
          <p:cNvSpPr>
            <a:spLocks xmlns:a="http://schemas.openxmlformats.org/drawingml/2006/main" noGrp="1"/>
          </p:cNvSpPr>
          <p:nvPr/>
        </p:nvSpPr>
        <p:spPr>
          <a:xfrm xmlns:a="http://schemas.openxmlformats.org/drawingml/2006/main">
            <a:off x="7620000" y="2190750"/>
            <a:ext cx="3810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627078"/>
                </a:solidFill>
              </a:defRPr>
            </a:defPPr>
            <a:lvl1pPr algn="l">
              <a:defRPr sz="1725" b="0">
                <a:solidFill>
                  <a:srgbClr val="627078"/>
                </a:solidFill>
              </a:defRPr>
            </a:lvl1pPr>
            <a:lvl2pPr algn="l">
              <a:defRPr sz="1725" b="0">
                <a:solidFill>
                  <a:srgbClr val="627078"/>
                </a:solidFill>
              </a:defRPr>
            </a:lvl2pPr>
            <a:lvl3pPr algn="l">
              <a:defRPr sz="1725" b="0">
                <a:solidFill>
                  <a:srgbClr val="627078"/>
                </a:solidFill>
              </a:defRPr>
            </a:lvl3pPr>
            <a:lvl4pPr algn="l">
              <a:defRPr sz="1725" b="0">
                <a:solidFill>
                  <a:srgbClr val="627078"/>
                </a:solidFill>
              </a:defRPr>
            </a:lvl4pPr>
            <a:lvl5pPr algn="l">
              <a:defRPr sz="1725" b="0">
                <a:solidFill>
                  <a:srgbClr val="627078"/>
                </a:solidFill>
              </a:defRPr>
            </a:lvl5pPr>
            <a:lvl6pPr algn="l">
              <a:defRPr sz="1725" b="0">
                <a:solidFill>
                  <a:srgbClr val="627078"/>
                </a:solidFill>
              </a:defRPr>
            </a:lvl6pPr>
            <a:lvl7pPr algn="l">
              <a:defRPr sz="1725" b="0">
                <a:solidFill>
                  <a:srgbClr val="627078"/>
                </a:solidFill>
              </a:defRPr>
            </a:lvl7pPr>
            <a:lvl8pPr algn="l">
              <a:defRPr sz="1725" b="0">
                <a:solidFill>
                  <a:srgbClr val="627078"/>
                </a:solidFill>
              </a:defRPr>
            </a:lvl8pPr>
            <a:lvl9pPr algn="l">
              <a:defRPr sz="1725" b="0">
                <a:solidFill>
                  <a:srgbClr val="627078"/>
                </a:solidFill>
              </a:defRPr>
            </a:lvl9pPr>
          </a:lstStyle>
          <a:p xmlns:a="http://schemas.openxmlformats.org/drawingml/2006/main">
            <a:pPr algn="l">
              <a:defRPr sz="1725" b="0">
                <a:solidFill>
                  <a:srgbClr val="627078"/>
                </a:solidFill>
              </a:defRPr>
            </a:pPr>
            <a:r>
              <a:rPr sz="1725" b="0">
                <a:solidFill>
                  <a:srgbClr val="627078"/>
                </a:solidFill>
              </a:rPr>
              <a:t>An advocate is generally bound to accept a brief at a fee consistent with their standing and the case, subject to special circumstances.</a:t>
            </a:r>
          </a:p>
        </p:txBody>
      </p:sp>
      <p:sp>
        <p:nvSpPr>
          <p:cNvPr id="14" name="bottom-rule">
            <a:extLst xmlns:a="http://schemas.openxmlformats.org/drawingml/2006/main">
              <a:ext uri="{FF2B5EF4-FFF2-40B4-BE49-F238E27FC236}">
                <a16:creationId xmlns:a16="http://schemas.microsoft.com/office/drawing/2014/main" id="{2A0B0C92-F3C5-40F3-9AFB-D981FC1C9217}"/>
              </a:ext>
            </a:extLst>
          </p:cNvPr>
          <p:cNvSpPr>
            <a:spLocks xmlns:a="http://schemas.openxmlformats.org/drawingml/2006/main" noGrp="1"/>
          </p:cNvSpPr>
          <p:nvPr/>
        </p:nvSpPr>
        <p:spPr>
          <a:xfrm xmlns:a="http://schemas.openxmlformats.org/drawingml/2006/main">
            <a:off x="685800" y="4095750"/>
            <a:ext cx="10820400" cy="47625"/>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15" name="bottom-statement">
            <a:extLst xmlns:a="http://schemas.openxmlformats.org/drawingml/2006/main">
              <a:ext uri="{FF2B5EF4-FFF2-40B4-BE49-F238E27FC236}">
                <a16:creationId xmlns:a16="http://schemas.microsoft.com/office/drawing/2014/main" id="{3A33FE0F-7F3F-47A4-96CF-E25CA413237D}"/>
              </a:ext>
            </a:extLst>
          </p:cNvPr>
          <p:cNvSpPr>
            <a:spLocks xmlns:a="http://schemas.openxmlformats.org/drawingml/2006/main" noGrp="1"/>
          </p:cNvSpPr>
          <p:nvPr/>
        </p:nvSpPr>
        <p:spPr>
          <a:xfrm xmlns:a="http://schemas.openxmlformats.org/drawingml/2006/main">
            <a:off x="685800" y="445770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475" b="1">
                <a:solidFill>
                  <a:srgbClr val="35564B"/>
                </a:solidFill>
              </a:defRPr>
            </a:defPPr>
            <a:lvl1pPr algn="ctr">
              <a:defRPr sz="2475" b="1">
                <a:solidFill>
                  <a:srgbClr val="35564B"/>
                </a:solidFill>
              </a:defRPr>
            </a:lvl1pPr>
            <a:lvl2pPr algn="ctr">
              <a:defRPr sz="2475" b="1">
                <a:solidFill>
                  <a:srgbClr val="35564B"/>
                </a:solidFill>
              </a:defRPr>
            </a:lvl2pPr>
            <a:lvl3pPr algn="ctr">
              <a:defRPr sz="2475" b="1">
                <a:solidFill>
                  <a:srgbClr val="35564B"/>
                </a:solidFill>
              </a:defRPr>
            </a:lvl3pPr>
            <a:lvl4pPr algn="ctr">
              <a:defRPr sz="2475" b="1">
                <a:solidFill>
                  <a:srgbClr val="35564B"/>
                </a:solidFill>
              </a:defRPr>
            </a:lvl4pPr>
            <a:lvl5pPr algn="ctr">
              <a:defRPr sz="2475" b="1">
                <a:solidFill>
                  <a:srgbClr val="35564B"/>
                </a:solidFill>
              </a:defRPr>
            </a:lvl5pPr>
            <a:lvl6pPr algn="ctr">
              <a:defRPr sz="2475" b="1">
                <a:solidFill>
                  <a:srgbClr val="35564B"/>
                </a:solidFill>
              </a:defRPr>
            </a:lvl6pPr>
            <a:lvl7pPr algn="ctr">
              <a:defRPr sz="2475" b="1">
                <a:solidFill>
                  <a:srgbClr val="35564B"/>
                </a:solidFill>
              </a:defRPr>
            </a:lvl7pPr>
            <a:lvl8pPr algn="ctr">
              <a:defRPr sz="2475" b="1">
                <a:solidFill>
                  <a:srgbClr val="35564B"/>
                </a:solidFill>
              </a:defRPr>
            </a:lvl8pPr>
            <a:lvl9pPr algn="ctr">
              <a:defRPr sz="2475" b="1">
                <a:solidFill>
                  <a:srgbClr val="35564B"/>
                </a:solidFill>
              </a:defRPr>
            </a:lvl9pPr>
          </a:lstStyle>
          <a:p xmlns:a="http://schemas.openxmlformats.org/drawingml/2006/main">
            <a:pPr algn="ctr">
              <a:defRPr sz="2475" b="1">
                <a:solidFill>
                  <a:srgbClr val="35564B"/>
                </a:solidFill>
              </a:defRPr>
            </a:pPr>
            <a:r>
              <a:rPr sz="2475" b="1">
                <a:solidFill>
                  <a:srgbClr val="35564B"/>
                </a:solidFill>
              </a:rPr>
              <a:t>Individual choice may exist; collective coercion cannot extinguish access to counsel.</a:t>
            </a:r>
          </a:p>
        </p:txBody>
      </p:sp>
      <p:sp>
        <p:nvSpPr>
          <p:cNvPr id="16" name="bottom-note">
            <a:extLst xmlns:a="http://schemas.openxmlformats.org/drawingml/2006/main">
              <a:ext uri="{FF2B5EF4-FFF2-40B4-BE49-F238E27FC236}">
                <a16:creationId xmlns:a16="http://schemas.microsoft.com/office/drawing/2014/main" id="{14DB4C88-4DAC-4EC8-A464-DDA4F2FBEFC2}"/>
              </a:ext>
            </a:extLst>
          </p:cNvPr>
          <p:cNvSpPr>
            <a:spLocks xmlns:a="http://schemas.openxmlformats.org/drawingml/2006/main" noGrp="1"/>
          </p:cNvSpPr>
          <p:nvPr/>
        </p:nvSpPr>
        <p:spPr>
          <a:xfrm xmlns:a="http://schemas.openxmlformats.org/drawingml/2006/main">
            <a:off x="1257300" y="5314950"/>
            <a:ext cx="967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0">
                <a:solidFill>
                  <a:srgbClr val="627078"/>
                </a:solidFill>
              </a:defRPr>
            </a:defPPr>
            <a:lvl1pPr algn="ctr">
              <a:defRPr sz="1500" b="0">
                <a:solidFill>
                  <a:srgbClr val="627078"/>
                </a:solidFill>
              </a:defRPr>
            </a:lvl1pPr>
            <a:lvl2pPr algn="ctr">
              <a:defRPr sz="1500" b="0">
                <a:solidFill>
                  <a:srgbClr val="627078"/>
                </a:solidFill>
              </a:defRPr>
            </a:lvl2pPr>
            <a:lvl3pPr algn="ctr">
              <a:defRPr sz="1500" b="0">
                <a:solidFill>
                  <a:srgbClr val="627078"/>
                </a:solidFill>
              </a:defRPr>
            </a:lvl3pPr>
            <a:lvl4pPr algn="ctr">
              <a:defRPr sz="1500" b="0">
                <a:solidFill>
                  <a:srgbClr val="627078"/>
                </a:solidFill>
              </a:defRPr>
            </a:lvl4pPr>
            <a:lvl5pPr algn="ctr">
              <a:defRPr sz="1500" b="0">
                <a:solidFill>
                  <a:srgbClr val="627078"/>
                </a:solidFill>
              </a:defRPr>
            </a:lvl5pPr>
            <a:lvl6pPr algn="ctr">
              <a:defRPr sz="1500" b="0">
                <a:solidFill>
                  <a:srgbClr val="627078"/>
                </a:solidFill>
              </a:defRPr>
            </a:lvl6pPr>
            <a:lvl7pPr algn="ctr">
              <a:defRPr sz="1500" b="0">
                <a:solidFill>
                  <a:srgbClr val="627078"/>
                </a:solidFill>
              </a:defRPr>
            </a:lvl7pPr>
            <a:lvl8pPr algn="ctr">
              <a:defRPr sz="1500" b="0">
                <a:solidFill>
                  <a:srgbClr val="627078"/>
                </a:solidFill>
              </a:defRPr>
            </a:lvl8pPr>
            <a:lvl9pPr algn="ctr">
              <a:defRPr sz="1500" b="0">
                <a:solidFill>
                  <a:srgbClr val="627078"/>
                </a:solidFill>
              </a:defRPr>
            </a:lvl9pPr>
          </a:lstStyle>
          <a:p xmlns:a="http://schemas.openxmlformats.org/drawingml/2006/main">
            <a:pPr algn="ctr">
              <a:defRPr sz="1500" b="0">
                <a:solidFill>
                  <a:srgbClr val="627078"/>
                </a:solidFill>
              </a:defRPr>
            </a:pPr>
            <a:r>
              <a:rPr sz="1500" b="0">
                <a:solidFill>
                  <a:srgbClr val="627078"/>
                </a:solidFill>
              </a:rPr>
              <a:t>The judgment ties professional ethics to the rule of law and a fair criminal process.</a:t>
            </a:r>
          </a:p>
        </p:txBody>
      </p:sp>
    </p:spTree>
    <p:extLst>
      <p:ext uri="{BB962C8B-B14F-4D97-AF65-F5344CB8AC3E}">
        <p14:creationId xmlns:p14="http://schemas.microsoft.com/office/powerpoint/2010/main" val="1986131507"/>
      </p:ext>
    </p:extLst>
  </p:cSld>
</p:sld>
</file>

<file path=ppt/slides/slide5.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BFD3EDFF-EF39-410F-8FE0-EDED26CDF9D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2B522C5F-FEE5-4B56-8B90-41826E05CA5F}"/>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HOLDING AND OUTCOME</a:t>
            </a:r>
          </a:p>
        </p:txBody>
      </p:sp>
      <p:sp>
        <p:nvSpPr>
          <p:cNvPr id="3" name="slide-title">
            <a:extLst xmlns:a="http://schemas.openxmlformats.org/drawingml/2006/main">
              <a:ext uri="{FF2B5EF4-FFF2-40B4-BE49-F238E27FC236}">
                <a16:creationId xmlns:a16="http://schemas.microsoft.com/office/drawing/2014/main" id="{DE5E14E4-DE73-432B-9DE7-D1707740469D}"/>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What the Supreme Court decided</a:t>
            </a:r>
          </a:p>
        </p:txBody>
      </p:sp>
      <p:sp>
        <p:nvSpPr>
          <p:cNvPr id="4" name="footer-rule">
            <a:extLst xmlns:a="http://schemas.openxmlformats.org/drawingml/2006/main">
              <a:ext uri="{FF2B5EF4-FFF2-40B4-BE49-F238E27FC236}">
                <a16:creationId xmlns:a16="http://schemas.microsoft.com/office/drawing/2014/main" id="{2792EB61-4704-4E5C-BD89-71C51118B83E}"/>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89579E57-6D68-402E-B517-3E28EC0C8B38}"/>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2F0B2B75-C76D-4010-88ED-B6922C8F51EF}"/>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05</a:t>
            </a:r>
          </a:p>
        </p:txBody>
      </p:sp>
      <p:sp>
        <p:nvSpPr>
          <p:cNvPr id="7" name="holding-label">
            <a:extLst xmlns:a="http://schemas.openxmlformats.org/drawingml/2006/main">
              <a:ext uri="{FF2B5EF4-FFF2-40B4-BE49-F238E27FC236}">
                <a16:creationId xmlns:a16="http://schemas.microsoft.com/office/drawing/2014/main" id="{BF5B5C82-0342-4754-BF6C-5CBC136D0501}"/>
              </a:ext>
            </a:extLst>
          </p:cNvPr>
          <p:cNvSpPr>
            <a:spLocks xmlns:a="http://schemas.openxmlformats.org/drawingml/2006/main" noGrp="1"/>
          </p:cNvSpPr>
          <p:nvPr/>
        </p:nvSpPr>
        <p:spPr>
          <a:xfrm xmlns:a="http://schemas.openxmlformats.org/drawingml/2006/main">
            <a:off x="685800" y="16002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7A2534"/>
                </a:solidFill>
              </a:defRPr>
            </a:defPPr>
            <a:lvl1pPr algn="l">
              <a:defRPr sz="1200" b="1">
                <a:solidFill>
                  <a:srgbClr val="7A2534"/>
                </a:solidFill>
              </a:defRPr>
            </a:lvl1pPr>
            <a:lvl2pPr algn="l">
              <a:defRPr sz="1200" b="1">
                <a:solidFill>
                  <a:srgbClr val="7A2534"/>
                </a:solidFill>
              </a:defRPr>
            </a:lvl2pPr>
            <a:lvl3pPr algn="l">
              <a:defRPr sz="1200" b="1">
                <a:solidFill>
                  <a:srgbClr val="7A2534"/>
                </a:solidFill>
              </a:defRPr>
            </a:lvl3pPr>
            <a:lvl4pPr algn="l">
              <a:defRPr sz="1200" b="1">
                <a:solidFill>
                  <a:srgbClr val="7A2534"/>
                </a:solidFill>
              </a:defRPr>
            </a:lvl4pPr>
            <a:lvl5pPr algn="l">
              <a:defRPr sz="1200" b="1">
                <a:solidFill>
                  <a:srgbClr val="7A2534"/>
                </a:solidFill>
              </a:defRPr>
            </a:lvl5pPr>
            <a:lvl6pPr algn="l">
              <a:defRPr sz="1200" b="1">
                <a:solidFill>
                  <a:srgbClr val="7A2534"/>
                </a:solidFill>
              </a:defRPr>
            </a:lvl6pPr>
            <a:lvl7pPr algn="l">
              <a:defRPr sz="1200" b="1">
                <a:solidFill>
                  <a:srgbClr val="7A2534"/>
                </a:solidFill>
              </a:defRPr>
            </a:lvl7pPr>
            <a:lvl8pPr algn="l">
              <a:defRPr sz="1200" b="1">
                <a:solidFill>
                  <a:srgbClr val="7A2534"/>
                </a:solidFill>
              </a:defRPr>
            </a:lvl8pPr>
            <a:lvl9pPr algn="l">
              <a:defRPr sz="1200" b="1">
                <a:solidFill>
                  <a:srgbClr val="7A2534"/>
                </a:solidFill>
              </a:defRPr>
            </a:lvl9pPr>
          </a:lstStyle>
          <a:p xmlns:a="http://schemas.openxmlformats.org/drawingml/2006/main">
            <a:pPr algn="l">
              <a:defRPr sz="1200" b="1">
                <a:solidFill>
                  <a:srgbClr val="7A2534"/>
                </a:solidFill>
              </a:defRPr>
            </a:pPr>
            <a:r>
              <a:rPr sz="1200" b="1">
                <a:solidFill>
                  <a:srgbClr val="7A2534"/>
                </a:solidFill>
              </a:rPr>
              <a:t>HOLDING</a:t>
            </a:r>
          </a:p>
        </p:txBody>
      </p:sp>
      <p:sp>
        <p:nvSpPr>
          <p:cNvPr id="8" name="holding">
            <a:extLst xmlns:a="http://schemas.openxmlformats.org/drawingml/2006/main">
              <a:ext uri="{FF2B5EF4-FFF2-40B4-BE49-F238E27FC236}">
                <a16:creationId xmlns:a16="http://schemas.microsoft.com/office/drawing/2014/main" id="{2CF73E79-89AA-46AA-AF61-D33A98724F4E}"/>
              </a:ext>
            </a:extLst>
          </p:cNvPr>
          <p:cNvSpPr>
            <a:spLocks xmlns:a="http://schemas.openxmlformats.org/drawingml/2006/main" noGrp="1"/>
          </p:cNvSpPr>
          <p:nvPr/>
        </p:nvSpPr>
        <p:spPr>
          <a:xfrm xmlns:a="http://schemas.openxmlformats.org/drawingml/2006/main">
            <a:off x="781050" y="209550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a:solidFill>
                  <a:srgbClr val="17242B"/>
                </a:solidFill>
              </a:defRPr>
            </a:defPPr>
            <a:lvl1pPr algn="l">
              <a:defRPr sz="2400" b="1">
                <a:solidFill>
                  <a:srgbClr val="17242B"/>
                </a:solidFill>
              </a:defRPr>
            </a:lvl1pPr>
            <a:lvl2pPr algn="l">
              <a:defRPr sz="2400" b="1">
                <a:solidFill>
                  <a:srgbClr val="17242B"/>
                </a:solidFill>
              </a:defRPr>
            </a:lvl2pPr>
            <a:lvl3pPr algn="l">
              <a:defRPr sz="2400" b="1">
                <a:solidFill>
                  <a:srgbClr val="17242B"/>
                </a:solidFill>
              </a:defRPr>
            </a:lvl3pPr>
            <a:lvl4pPr algn="l">
              <a:defRPr sz="2400" b="1">
                <a:solidFill>
                  <a:srgbClr val="17242B"/>
                </a:solidFill>
              </a:defRPr>
            </a:lvl4pPr>
            <a:lvl5pPr algn="l">
              <a:defRPr sz="2400" b="1">
                <a:solidFill>
                  <a:srgbClr val="17242B"/>
                </a:solidFill>
              </a:defRPr>
            </a:lvl5pPr>
            <a:lvl6pPr algn="l">
              <a:defRPr sz="2400" b="1">
                <a:solidFill>
                  <a:srgbClr val="17242B"/>
                </a:solidFill>
              </a:defRPr>
            </a:lvl6pPr>
            <a:lvl7pPr algn="l">
              <a:defRPr sz="2400" b="1">
                <a:solidFill>
                  <a:srgbClr val="17242B"/>
                </a:solidFill>
              </a:defRPr>
            </a:lvl7pPr>
            <a:lvl8pPr algn="l">
              <a:defRPr sz="2400" b="1">
                <a:solidFill>
                  <a:srgbClr val="17242B"/>
                </a:solidFill>
              </a:defRPr>
            </a:lvl8pPr>
            <a:lvl9pPr algn="l">
              <a:defRPr sz="2400" b="1">
                <a:solidFill>
                  <a:srgbClr val="17242B"/>
                </a:solidFill>
              </a:defRPr>
            </a:lvl9pPr>
          </a:lstStyle>
          <a:p xmlns:a="http://schemas.openxmlformats.org/drawingml/2006/main">
            <a:pPr algn="l">
              <a:defRPr sz="2400" b="1">
                <a:solidFill>
                  <a:srgbClr val="17242B"/>
                </a:solidFill>
              </a:defRPr>
            </a:pPr>
            <a:r>
              <a:rPr sz="2400" b="1">
                <a:solidFill>
                  <a:srgbClr val="17242B"/>
                </a:solidFill>
              </a:rPr>
              <a:t>A Bar Association cannot impose a collective boycott of a particular accused.</a:t>
            </a:r>
          </a:p>
        </p:txBody>
      </p:sp>
      <p:sp>
        <p:nvSpPr>
          <p:cNvPr id="9" name="explanation">
            <a:extLst xmlns:a="http://schemas.openxmlformats.org/drawingml/2006/main">
              <a:ext uri="{FF2B5EF4-FFF2-40B4-BE49-F238E27FC236}">
                <a16:creationId xmlns:a16="http://schemas.microsoft.com/office/drawing/2014/main" id="{660664FD-B808-41AF-A1CF-D6978544B6E8}"/>
              </a:ext>
            </a:extLst>
          </p:cNvPr>
          <p:cNvSpPr>
            <a:spLocks xmlns:a="http://schemas.openxmlformats.org/drawingml/2006/main" noGrp="1"/>
          </p:cNvSpPr>
          <p:nvPr/>
        </p:nvSpPr>
        <p:spPr>
          <a:xfrm xmlns:a="http://schemas.openxmlformats.org/drawingml/2006/main">
            <a:off x="781050" y="35433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627078"/>
                </a:solidFill>
              </a:defRPr>
            </a:defPPr>
            <a:lvl1pPr algn="l">
              <a:defRPr sz="1650" b="0">
                <a:solidFill>
                  <a:srgbClr val="627078"/>
                </a:solidFill>
              </a:defRPr>
            </a:lvl1pPr>
            <a:lvl2pPr algn="l">
              <a:defRPr sz="1650" b="0">
                <a:solidFill>
                  <a:srgbClr val="627078"/>
                </a:solidFill>
              </a:defRPr>
            </a:lvl2pPr>
            <a:lvl3pPr algn="l">
              <a:defRPr sz="1650" b="0">
                <a:solidFill>
                  <a:srgbClr val="627078"/>
                </a:solidFill>
              </a:defRPr>
            </a:lvl3pPr>
            <a:lvl4pPr algn="l">
              <a:defRPr sz="1650" b="0">
                <a:solidFill>
                  <a:srgbClr val="627078"/>
                </a:solidFill>
              </a:defRPr>
            </a:lvl4pPr>
            <a:lvl5pPr algn="l">
              <a:defRPr sz="1650" b="0">
                <a:solidFill>
                  <a:srgbClr val="627078"/>
                </a:solidFill>
              </a:defRPr>
            </a:lvl5pPr>
            <a:lvl6pPr algn="l">
              <a:defRPr sz="1650" b="0">
                <a:solidFill>
                  <a:srgbClr val="627078"/>
                </a:solidFill>
              </a:defRPr>
            </a:lvl6pPr>
            <a:lvl7pPr algn="l">
              <a:defRPr sz="1650" b="0">
                <a:solidFill>
                  <a:srgbClr val="627078"/>
                </a:solidFill>
              </a:defRPr>
            </a:lvl7pPr>
            <a:lvl8pPr algn="l">
              <a:defRPr sz="1650" b="0">
                <a:solidFill>
                  <a:srgbClr val="627078"/>
                </a:solidFill>
              </a:defRPr>
            </a:lvl8pPr>
            <a:lvl9pPr algn="l">
              <a:defRPr sz="1650" b="0">
                <a:solidFill>
                  <a:srgbClr val="627078"/>
                </a:solidFill>
              </a:defRPr>
            </a:lvl9pPr>
          </a:lstStyle>
          <a:p xmlns:a="http://schemas.openxmlformats.org/drawingml/2006/main">
            <a:pPr algn="l">
              <a:defRPr sz="1650" b="0">
                <a:solidFill>
                  <a:srgbClr val="627078"/>
                </a:solidFill>
              </a:defRPr>
            </a:pPr>
            <a:r>
              <a:rPr sz="1650" b="0">
                <a:solidFill>
                  <a:srgbClr val="627078"/>
                </a:solidFill>
              </a:rPr>
              <a:t>The Court declared such resolutions null and void as contrary to constitutional norms and professional ethics.</a:t>
            </a:r>
          </a:p>
        </p:txBody>
      </p:sp>
      <p:sp>
        <p:nvSpPr>
          <p:cNvPr id="10" name="outcome-panel">
            <a:extLst xmlns:a="http://schemas.openxmlformats.org/drawingml/2006/main">
              <a:ext uri="{FF2B5EF4-FFF2-40B4-BE49-F238E27FC236}">
                <a16:creationId xmlns:a16="http://schemas.microsoft.com/office/drawing/2014/main" id="{ABBD5EC9-CEA9-41EF-B7B3-B7CCEF520E7C}"/>
              </a:ext>
            </a:extLst>
          </p:cNvPr>
          <p:cNvSpPr>
            <a:spLocks xmlns:a="http://schemas.openxmlformats.org/drawingml/2006/main" noGrp="1"/>
          </p:cNvSpPr>
          <p:nvPr/>
        </p:nvSpPr>
        <p:spPr>
          <a:xfrm xmlns:a="http://schemas.openxmlformats.org/drawingml/2006/main">
            <a:off x="6229350" y="1657350"/>
            <a:ext cx="5276850" cy="3714750"/>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11" name="outcome-title">
            <a:extLst xmlns:a="http://schemas.openxmlformats.org/drawingml/2006/main">
              <a:ext uri="{FF2B5EF4-FFF2-40B4-BE49-F238E27FC236}">
                <a16:creationId xmlns:a16="http://schemas.microsoft.com/office/drawing/2014/main" id="{27D909DA-6989-46BA-8641-B247F9CC9FCD}"/>
              </a:ext>
            </a:extLst>
          </p:cNvPr>
          <p:cNvSpPr>
            <a:spLocks xmlns:a="http://schemas.openxmlformats.org/drawingml/2006/main" noGrp="1"/>
          </p:cNvSpPr>
          <p:nvPr/>
        </p:nvSpPr>
        <p:spPr>
          <a:xfrm xmlns:a="http://schemas.openxmlformats.org/drawingml/2006/main">
            <a:off x="6629400" y="20002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7A2534"/>
                </a:solidFill>
              </a:defRPr>
            </a:defPPr>
            <a:lvl1pPr algn="l">
              <a:defRPr sz="1200" b="1">
                <a:solidFill>
                  <a:srgbClr val="7A2534"/>
                </a:solidFill>
              </a:defRPr>
            </a:lvl1pPr>
            <a:lvl2pPr algn="l">
              <a:defRPr sz="1200" b="1">
                <a:solidFill>
                  <a:srgbClr val="7A2534"/>
                </a:solidFill>
              </a:defRPr>
            </a:lvl2pPr>
            <a:lvl3pPr algn="l">
              <a:defRPr sz="1200" b="1">
                <a:solidFill>
                  <a:srgbClr val="7A2534"/>
                </a:solidFill>
              </a:defRPr>
            </a:lvl3pPr>
            <a:lvl4pPr algn="l">
              <a:defRPr sz="1200" b="1">
                <a:solidFill>
                  <a:srgbClr val="7A2534"/>
                </a:solidFill>
              </a:defRPr>
            </a:lvl4pPr>
            <a:lvl5pPr algn="l">
              <a:defRPr sz="1200" b="1">
                <a:solidFill>
                  <a:srgbClr val="7A2534"/>
                </a:solidFill>
              </a:defRPr>
            </a:lvl5pPr>
            <a:lvl6pPr algn="l">
              <a:defRPr sz="1200" b="1">
                <a:solidFill>
                  <a:srgbClr val="7A2534"/>
                </a:solidFill>
              </a:defRPr>
            </a:lvl6pPr>
            <a:lvl7pPr algn="l">
              <a:defRPr sz="1200" b="1">
                <a:solidFill>
                  <a:srgbClr val="7A2534"/>
                </a:solidFill>
              </a:defRPr>
            </a:lvl7pPr>
            <a:lvl8pPr algn="l">
              <a:defRPr sz="1200" b="1">
                <a:solidFill>
                  <a:srgbClr val="7A2534"/>
                </a:solidFill>
              </a:defRPr>
            </a:lvl8pPr>
            <a:lvl9pPr algn="l">
              <a:defRPr sz="1200" b="1">
                <a:solidFill>
                  <a:srgbClr val="7A2534"/>
                </a:solidFill>
              </a:defRPr>
            </a:lvl9pPr>
          </a:lstStyle>
          <a:p xmlns:a="http://schemas.openxmlformats.org/drawingml/2006/main">
            <a:pPr algn="l">
              <a:defRPr sz="1200" b="1">
                <a:solidFill>
                  <a:srgbClr val="7A2534"/>
                </a:solidFill>
              </a:defRPr>
            </a:pPr>
            <a:r>
              <a:rPr sz="1200" b="1">
                <a:solidFill>
                  <a:srgbClr val="7A2534"/>
                </a:solidFill>
              </a:rPr>
              <a:t>DISPOSITION</a:t>
            </a:r>
          </a:p>
        </p:txBody>
      </p:sp>
      <p:sp>
        <p:nvSpPr>
          <p:cNvPr id="12" name="criminal-label">
            <a:extLst xmlns:a="http://schemas.openxmlformats.org/drawingml/2006/main">
              <a:ext uri="{FF2B5EF4-FFF2-40B4-BE49-F238E27FC236}">
                <a16:creationId xmlns:a16="http://schemas.microsoft.com/office/drawing/2014/main" id="{FDBEEFBC-633C-4A48-89ED-F7ABB9311BBB}"/>
              </a:ext>
            </a:extLst>
          </p:cNvPr>
          <p:cNvSpPr>
            <a:spLocks xmlns:a="http://schemas.openxmlformats.org/drawingml/2006/main" noGrp="1"/>
          </p:cNvSpPr>
          <p:nvPr/>
        </p:nvSpPr>
        <p:spPr>
          <a:xfrm xmlns:a="http://schemas.openxmlformats.org/drawingml/2006/main">
            <a:off x="6629400" y="2476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17242B"/>
                </a:solidFill>
              </a:defRPr>
            </a:defPPr>
            <a:lvl1pPr algn="l">
              <a:defRPr sz="1725" b="1">
                <a:solidFill>
                  <a:srgbClr val="17242B"/>
                </a:solidFill>
              </a:defRPr>
            </a:lvl1pPr>
            <a:lvl2pPr algn="l">
              <a:defRPr sz="1725" b="1">
                <a:solidFill>
                  <a:srgbClr val="17242B"/>
                </a:solidFill>
              </a:defRPr>
            </a:lvl2pPr>
            <a:lvl3pPr algn="l">
              <a:defRPr sz="1725" b="1">
                <a:solidFill>
                  <a:srgbClr val="17242B"/>
                </a:solidFill>
              </a:defRPr>
            </a:lvl3pPr>
            <a:lvl4pPr algn="l">
              <a:defRPr sz="1725" b="1">
                <a:solidFill>
                  <a:srgbClr val="17242B"/>
                </a:solidFill>
              </a:defRPr>
            </a:lvl4pPr>
            <a:lvl5pPr algn="l">
              <a:defRPr sz="1725" b="1">
                <a:solidFill>
                  <a:srgbClr val="17242B"/>
                </a:solidFill>
              </a:defRPr>
            </a:lvl5pPr>
            <a:lvl6pPr algn="l">
              <a:defRPr sz="1725" b="1">
                <a:solidFill>
                  <a:srgbClr val="17242B"/>
                </a:solidFill>
              </a:defRPr>
            </a:lvl6pPr>
            <a:lvl7pPr algn="l">
              <a:defRPr sz="1725" b="1">
                <a:solidFill>
                  <a:srgbClr val="17242B"/>
                </a:solidFill>
              </a:defRPr>
            </a:lvl7pPr>
            <a:lvl8pPr algn="l">
              <a:defRPr sz="1725" b="1">
                <a:solidFill>
                  <a:srgbClr val="17242B"/>
                </a:solidFill>
              </a:defRPr>
            </a:lvl8pPr>
            <a:lvl9pPr algn="l">
              <a:defRPr sz="1725" b="1">
                <a:solidFill>
                  <a:srgbClr val="17242B"/>
                </a:solidFill>
              </a:defRPr>
            </a:lvl9pPr>
          </a:lstStyle>
          <a:p xmlns:a="http://schemas.openxmlformats.org/drawingml/2006/main">
            <a:pPr algn="l">
              <a:defRPr sz="1725" b="1">
                <a:solidFill>
                  <a:srgbClr val="17242B"/>
                </a:solidFill>
              </a:defRPr>
            </a:pPr>
            <a:r>
              <a:rPr sz="1725" b="1">
                <a:solidFill>
                  <a:srgbClr val="17242B"/>
                </a:solidFill>
              </a:rPr>
              <a:t>Rafi criminal appeal</a:t>
            </a:r>
          </a:p>
        </p:txBody>
      </p:sp>
      <p:sp>
        <p:nvSpPr>
          <p:cNvPr id="13" name="criminal-text">
            <a:extLst xmlns:a="http://schemas.openxmlformats.org/drawingml/2006/main">
              <a:ext uri="{FF2B5EF4-FFF2-40B4-BE49-F238E27FC236}">
                <a16:creationId xmlns:a16="http://schemas.microsoft.com/office/drawing/2014/main" id="{7D48183E-A905-426E-90BF-8BFE04F4EA09}"/>
              </a:ext>
            </a:extLst>
          </p:cNvPr>
          <p:cNvSpPr>
            <a:spLocks xmlns:a="http://schemas.openxmlformats.org/drawingml/2006/main" noGrp="1"/>
          </p:cNvSpPr>
          <p:nvPr/>
        </p:nvSpPr>
        <p:spPr>
          <a:xfrm xmlns:a="http://schemas.openxmlformats.org/drawingml/2006/main">
            <a:off x="6629400" y="2857500"/>
            <a:ext cx="4381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State directed to pay total compensation of Rs 1.5 lakh; the FIR against Rafi and the related FIR against police were quashed under Article 142.</a:t>
            </a:r>
          </a:p>
        </p:txBody>
      </p:sp>
      <p:sp>
        <p:nvSpPr>
          <p:cNvPr id="14" name="outcome-divider">
            <a:extLst xmlns:a="http://schemas.openxmlformats.org/drawingml/2006/main">
              <a:ext uri="{FF2B5EF4-FFF2-40B4-BE49-F238E27FC236}">
                <a16:creationId xmlns:a16="http://schemas.microsoft.com/office/drawing/2014/main" id="{62CD901D-C897-4084-AB1D-CC8C65A84FE7}"/>
              </a:ext>
            </a:extLst>
          </p:cNvPr>
          <p:cNvSpPr>
            <a:spLocks xmlns:a="http://schemas.openxmlformats.org/drawingml/2006/main" noGrp="1"/>
          </p:cNvSpPr>
          <p:nvPr/>
        </p:nvSpPr>
        <p:spPr>
          <a:xfrm xmlns:a="http://schemas.openxmlformats.org/drawingml/2006/main">
            <a:off x="6629400" y="3800475"/>
            <a:ext cx="4381500" cy="9525"/>
          </a:xfrm>
          <a:prstGeom xmlns:a="http://schemas.openxmlformats.org/drawingml/2006/main" prst="rect">
            <a:avLst/>
          </a:prstGeom>
          <a:solidFill xmlns:a="http://schemas.openxmlformats.org/drawingml/2006/main">
            <a:srgbClr val="C8BBA8"/>
          </a:solidFill>
          <a:ln xmlns:a="http://schemas.openxmlformats.org/drawingml/2006/main" w="0">
            <a:noFill/>
            <a:prstDash val="solid"/>
          </a:ln>
        </p:spPr>
      </p:sp>
      <p:sp>
        <p:nvSpPr>
          <p:cNvPr id="15" name="connected-label">
            <a:extLst xmlns:a="http://schemas.openxmlformats.org/drawingml/2006/main">
              <a:ext uri="{FF2B5EF4-FFF2-40B4-BE49-F238E27FC236}">
                <a16:creationId xmlns:a16="http://schemas.microsoft.com/office/drawing/2014/main" id="{36DE9AE8-9D28-4D7C-9A04-83722C92E39E}"/>
              </a:ext>
            </a:extLst>
          </p:cNvPr>
          <p:cNvSpPr>
            <a:spLocks xmlns:a="http://schemas.openxmlformats.org/drawingml/2006/main" noGrp="1"/>
          </p:cNvSpPr>
          <p:nvPr/>
        </p:nvSpPr>
        <p:spPr>
          <a:xfrm xmlns:a="http://schemas.openxmlformats.org/drawingml/2006/main">
            <a:off x="6629400" y="40386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17242B"/>
                </a:solidFill>
              </a:defRPr>
            </a:defPPr>
            <a:lvl1pPr algn="l">
              <a:defRPr sz="1725" b="1">
                <a:solidFill>
                  <a:srgbClr val="17242B"/>
                </a:solidFill>
              </a:defRPr>
            </a:lvl1pPr>
            <a:lvl2pPr algn="l">
              <a:defRPr sz="1725" b="1">
                <a:solidFill>
                  <a:srgbClr val="17242B"/>
                </a:solidFill>
              </a:defRPr>
            </a:lvl2pPr>
            <a:lvl3pPr algn="l">
              <a:defRPr sz="1725" b="1">
                <a:solidFill>
                  <a:srgbClr val="17242B"/>
                </a:solidFill>
              </a:defRPr>
            </a:lvl3pPr>
            <a:lvl4pPr algn="l">
              <a:defRPr sz="1725" b="1">
                <a:solidFill>
                  <a:srgbClr val="17242B"/>
                </a:solidFill>
              </a:defRPr>
            </a:lvl4pPr>
            <a:lvl5pPr algn="l">
              <a:defRPr sz="1725" b="1">
                <a:solidFill>
                  <a:srgbClr val="17242B"/>
                </a:solidFill>
              </a:defRPr>
            </a:lvl5pPr>
            <a:lvl6pPr algn="l">
              <a:defRPr sz="1725" b="1">
                <a:solidFill>
                  <a:srgbClr val="17242B"/>
                </a:solidFill>
              </a:defRPr>
            </a:lvl6pPr>
            <a:lvl7pPr algn="l">
              <a:defRPr sz="1725" b="1">
                <a:solidFill>
                  <a:srgbClr val="17242B"/>
                </a:solidFill>
              </a:defRPr>
            </a:lvl7pPr>
            <a:lvl8pPr algn="l">
              <a:defRPr sz="1725" b="1">
                <a:solidFill>
                  <a:srgbClr val="17242B"/>
                </a:solidFill>
              </a:defRPr>
            </a:lvl8pPr>
            <a:lvl9pPr algn="l">
              <a:defRPr sz="1725" b="1">
                <a:solidFill>
                  <a:srgbClr val="17242B"/>
                </a:solidFill>
              </a:defRPr>
            </a:lvl9pPr>
          </a:lstStyle>
          <a:p xmlns:a="http://schemas.openxmlformats.org/drawingml/2006/main">
            <a:pPr algn="l">
              <a:defRPr sz="1725" b="1">
                <a:solidFill>
                  <a:srgbClr val="17242B"/>
                </a:solidFill>
              </a:defRPr>
            </a:pPr>
            <a:r>
              <a:rPr sz="1725" b="1">
                <a:solidFill>
                  <a:srgbClr val="17242B"/>
                </a:solidFill>
              </a:rPr>
              <a:t>Connected civil appeals</a:t>
            </a:r>
          </a:p>
        </p:txBody>
      </p:sp>
      <p:sp>
        <p:nvSpPr>
          <p:cNvPr id="16" name="connected-text">
            <a:extLst xmlns:a="http://schemas.openxmlformats.org/drawingml/2006/main">
              <a:ext uri="{FF2B5EF4-FFF2-40B4-BE49-F238E27FC236}">
                <a16:creationId xmlns:a16="http://schemas.microsoft.com/office/drawing/2014/main" id="{EEBAEA5B-C00F-4A68-B9A4-BF8AFAE95B7D}"/>
              </a:ext>
            </a:extLst>
          </p:cNvPr>
          <p:cNvSpPr>
            <a:spLocks xmlns:a="http://schemas.openxmlformats.org/drawingml/2006/main" noGrp="1"/>
          </p:cNvSpPr>
          <p:nvPr/>
        </p:nvSpPr>
        <p:spPr>
          <a:xfrm xmlns:a="http://schemas.openxmlformats.org/drawingml/2006/main">
            <a:off x="6629400" y="441960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The observations against the Bar Association were quashed; the Court declared collective boycott resolutions null and void.</a:t>
            </a:r>
          </a:p>
        </p:txBody>
      </p:sp>
    </p:spTree>
    <p:extLst>
      <p:ext uri="{BB962C8B-B14F-4D97-AF65-F5344CB8AC3E}">
        <p14:creationId xmlns:p14="http://schemas.microsoft.com/office/powerpoint/2010/main" val="578103413"/>
      </p:ext>
    </p:extLst>
  </p:cSld>
</p:sld>
</file>

<file path=ppt/slides/slide6.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7" name="top-accent">
            <a:extLst xmlns:a="http://schemas.openxmlformats.org/drawingml/2006/main">
              <a:ext uri="{FF2B5EF4-FFF2-40B4-BE49-F238E27FC236}">
                <a16:creationId xmlns:a16="http://schemas.microsoft.com/office/drawing/2014/main" id="{BE4327B4-7E4E-494E-8AFF-161C2E6CA31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F1C9D62C-2141-4E22-8C87-C8B65704F60B}"/>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PROFESSIONAL ETHICS</a:t>
            </a:r>
          </a:p>
        </p:txBody>
      </p:sp>
      <p:sp>
        <p:nvSpPr>
          <p:cNvPr id="3" name="slide-title">
            <a:extLst xmlns:a="http://schemas.openxmlformats.org/drawingml/2006/main">
              <a:ext uri="{FF2B5EF4-FFF2-40B4-BE49-F238E27FC236}">
                <a16:creationId xmlns:a16="http://schemas.microsoft.com/office/drawing/2014/main" id="{25A3BCEB-0F5A-4F5E-9AB0-5504BAEB0C19}"/>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The ratio: representation is not endorsement</a:t>
            </a:r>
          </a:p>
        </p:txBody>
      </p:sp>
      <p:sp>
        <p:nvSpPr>
          <p:cNvPr id="4" name="footer-rule">
            <a:extLst xmlns:a="http://schemas.openxmlformats.org/drawingml/2006/main">
              <a:ext uri="{FF2B5EF4-FFF2-40B4-BE49-F238E27FC236}">
                <a16:creationId xmlns:a16="http://schemas.microsoft.com/office/drawing/2014/main" id="{2117BABD-982B-43CF-A689-8AC807CC9AD1}"/>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95DA52BA-78F2-41D8-8535-86930FF60B41}"/>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EF0E23DA-ED73-4211-A471-603764197986}"/>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06</a:t>
            </a:r>
          </a:p>
        </p:txBody>
      </p:sp>
      <p:sp>
        <p:nvSpPr>
          <p:cNvPr id="7" name="main-idea">
            <a:extLst xmlns:a="http://schemas.openxmlformats.org/drawingml/2006/main">
              <a:ext uri="{FF2B5EF4-FFF2-40B4-BE49-F238E27FC236}">
                <a16:creationId xmlns:a16="http://schemas.microsoft.com/office/drawing/2014/main" id="{75713054-6C39-4AEC-B001-347B0B328FB3}"/>
              </a:ext>
            </a:extLst>
          </p:cNvPr>
          <p:cNvSpPr>
            <a:spLocks xmlns:a="http://schemas.openxmlformats.org/drawingml/2006/main" noGrp="1"/>
          </p:cNvSpPr>
          <p:nvPr/>
        </p:nvSpPr>
        <p:spPr>
          <a:xfrm xmlns:a="http://schemas.openxmlformats.org/drawingml/2006/main">
            <a:off x="685800" y="15811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625" b="1">
                <a:solidFill>
                  <a:srgbClr val="35564B"/>
                </a:solidFill>
              </a:defRPr>
            </a:defPPr>
            <a:lvl1pPr algn="l">
              <a:defRPr sz="2625" b="1">
                <a:solidFill>
                  <a:srgbClr val="35564B"/>
                </a:solidFill>
              </a:defRPr>
            </a:lvl1pPr>
            <a:lvl2pPr algn="l">
              <a:defRPr sz="2625" b="1">
                <a:solidFill>
                  <a:srgbClr val="35564B"/>
                </a:solidFill>
              </a:defRPr>
            </a:lvl2pPr>
            <a:lvl3pPr algn="l">
              <a:defRPr sz="2625" b="1">
                <a:solidFill>
                  <a:srgbClr val="35564B"/>
                </a:solidFill>
              </a:defRPr>
            </a:lvl3pPr>
            <a:lvl4pPr algn="l">
              <a:defRPr sz="2625" b="1">
                <a:solidFill>
                  <a:srgbClr val="35564B"/>
                </a:solidFill>
              </a:defRPr>
            </a:lvl4pPr>
            <a:lvl5pPr algn="l">
              <a:defRPr sz="2625" b="1">
                <a:solidFill>
                  <a:srgbClr val="35564B"/>
                </a:solidFill>
              </a:defRPr>
            </a:lvl5pPr>
            <a:lvl6pPr algn="l">
              <a:defRPr sz="2625" b="1">
                <a:solidFill>
                  <a:srgbClr val="35564B"/>
                </a:solidFill>
              </a:defRPr>
            </a:lvl6pPr>
            <a:lvl7pPr algn="l">
              <a:defRPr sz="2625" b="1">
                <a:solidFill>
                  <a:srgbClr val="35564B"/>
                </a:solidFill>
              </a:defRPr>
            </a:lvl7pPr>
            <a:lvl8pPr algn="l">
              <a:defRPr sz="2625" b="1">
                <a:solidFill>
                  <a:srgbClr val="35564B"/>
                </a:solidFill>
              </a:defRPr>
            </a:lvl8pPr>
            <a:lvl9pPr algn="l">
              <a:defRPr sz="2625" b="1">
                <a:solidFill>
                  <a:srgbClr val="35564B"/>
                </a:solidFill>
              </a:defRPr>
            </a:lvl9pPr>
          </a:lstStyle>
          <a:p xmlns:a="http://schemas.openxmlformats.org/drawingml/2006/main">
            <a:pPr algn="l">
              <a:defRPr sz="2625" b="1">
                <a:solidFill>
                  <a:srgbClr val="35564B"/>
                </a:solidFill>
              </a:defRPr>
            </a:pPr>
            <a:r>
              <a:rPr sz="2625" b="1">
                <a:solidFill>
                  <a:srgbClr val="35564B"/>
                </a:solidFill>
              </a:rPr>
              <a:t>Defending an accused safeguards the process; it does not approve the alleged conduct.</a:t>
            </a:r>
          </a:p>
        </p:txBody>
      </p:sp>
      <p:sp>
        <p:nvSpPr>
          <p:cNvPr id="8" name="item-rule-0">
            <a:extLst xmlns:a="http://schemas.openxmlformats.org/drawingml/2006/main">
              <a:ext uri="{FF2B5EF4-FFF2-40B4-BE49-F238E27FC236}">
                <a16:creationId xmlns:a16="http://schemas.microsoft.com/office/drawing/2014/main" id="{67BE2B8F-7A43-4688-8BE4-1E573B214343}"/>
              </a:ext>
            </a:extLst>
          </p:cNvPr>
          <p:cNvSpPr>
            <a:spLocks xmlns:a="http://schemas.openxmlformats.org/drawingml/2006/main" noGrp="1"/>
          </p:cNvSpPr>
          <p:nvPr/>
        </p:nvSpPr>
        <p:spPr>
          <a:xfrm xmlns:a="http://schemas.openxmlformats.org/drawingml/2006/main">
            <a:off x="685800" y="2905125"/>
            <a:ext cx="57150" cy="80010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9" name="item-head-0">
            <a:extLst xmlns:a="http://schemas.openxmlformats.org/drawingml/2006/main">
              <a:ext uri="{FF2B5EF4-FFF2-40B4-BE49-F238E27FC236}">
                <a16:creationId xmlns:a16="http://schemas.microsoft.com/office/drawing/2014/main" id="{70E14E6C-E20B-4E27-B3D1-B7B4FD5DFBBF}"/>
              </a:ext>
            </a:extLst>
          </p:cNvPr>
          <p:cNvSpPr>
            <a:spLocks xmlns:a="http://schemas.openxmlformats.org/drawingml/2006/main" noGrp="1"/>
          </p:cNvSpPr>
          <p:nvPr/>
        </p:nvSpPr>
        <p:spPr>
          <a:xfrm xmlns:a="http://schemas.openxmlformats.org/drawingml/2006/main">
            <a:off x="971550" y="28575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A fair trial needs counsel</a:t>
            </a:r>
          </a:p>
        </p:txBody>
      </p:sp>
      <p:sp>
        <p:nvSpPr>
          <p:cNvPr id="10" name="item-body-0">
            <a:extLst xmlns:a="http://schemas.openxmlformats.org/drawingml/2006/main">
              <a:ext uri="{FF2B5EF4-FFF2-40B4-BE49-F238E27FC236}">
                <a16:creationId xmlns:a16="http://schemas.microsoft.com/office/drawing/2014/main" id="{72237D2D-58B2-49C7-B912-349BC1EFC1B0}"/>
              </a:ext>
            </a:extLst>
          </p:cNvPr>
          <p:cNvSpPr>
            <a:spLocks xmlns:a="http://schemas.openxmlformats.org/drawingml/2006/main" noGrp="1"/>
          </p:cNvSpPr>
          <p:nvPr/>
        </p:nvSpPr>
        <p:spPr>
          <a:xfrm xmlns:a="http://schemas.openxmlformats.org/drawingml/2006/main">
            <a:off x="971550" y="32194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The accused must be able to challenge the charge and test the prosecution case through legal process.</a:t>
            </a:r>
          </a:p>
        </p:txBody>
      </p:sp>
      <p:sp>
        <p:nvSpPr>
          <p:cNvPr id="11" name="item-rule-1">
            <a:extLst xmlns:a="http://schemas.openxmlformats.org/drawingml/2006/main">
              <a:ext uri="{FF2B5EF4-FFF2-40B4-BE49-F238E27FC236}">
                <a16:creationId xmlns:a16="http://schemas.microsoft.com/office/drawing/2014/main" id="{20FB3D69-8F8D-4979-838D-1186D3DCFBB1}"/>
              </a:ext>
            </a:extLst>
          </p:cNvPr>
          <p:cNvSpPr>
            <a:spLocks xmlns:a="http://schemas.openxmlformats.org/drawingml/2006/main" noGrp="1"/>
          </p:cNvSpPr>
          <p:nvPr/>
        </p:nvSpPr>
        <p:spPr>
          <a:xfrm xmlns:a="http://schemas.openxmlformats.org/drawingml/2006/main">
            <a:off x="685800" y="3971925"/>
            <a:ext cx="57150" cy="800100"/>
          </a:xfrm>
          <a:prstGeom xmlns:a="http://schemas.openxmlformats.org/drawingml/2006/main" prst="rect">
            <a:avLst/>
          </a:prstGeom>
          <a:solidFill xmlns:a="http://schemas.openxmlformats.org/drawingml/2006/main">
            <a:srgbClr val="B88A43"/>
          </a:solidFill>
          <a:ln xmlns:a="http://schemas.openxmlformats.org/drawingml/2006/main" w="0">
            <a:noFill/>
            <a:prstDash val="solid"/>
          </a:ln>
        </p:spPr>
      </p:sp>
      <p:sp>
        <p:nvSpPr>
          <p:cNvPr id="12" name="item-head-1">
            <a:extLst xmlns:a="http://schemas.openxmlformats.org/drawingml/2006/main">
              <a:ext uri="{FF2B5EF4-FFF2-40B4-BE49-F238E27FC236}">
                <a16:creationId xmlns:a16="http://schemas.microsoft.com/office/drawing/2014/main" id="{6DAEF9FC-BF94-4E8C-BD87-662AAEF21A20}"/>
              </a:ext>
            </a:extLst>
          </p:cNvPr>
          <p:cNvSpPr>
            <a:spLocks xmlns:a="http://schemas.openxmlformats.org/drawingml/2006/main" noGrp="1"/>
          </p:cNvSpPr>
          <p:nvPr/>
        </p:nvSpPr>
        <p:spPr>
          <a:xfrm xmlns:a="http://schemas.openxmlformats.org/drawingml/2006/main">
            <a:off x="971550" y="39243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Public opinion is not adjudication</a:t>
            </a:r>
          </a:p>
        </p:txBody>
      </p:sp>
      <p:sp>
        <p:nvSpPr>
          <p:cNvPr id="13" name="item-body-1">
            <a:extLst xmlns:a="http://schemas.openxmlformats.org/drawingml/2006/main">
              <a:ext uri="{FF2B5EF4-FFF2-40B4-BE49-F238E27FC236}">
                <a16:creationId xmlns:a16="http://schemas.microsoft.com/office/drawing/2014/main" id="{9FD6B598-4A84-4D94-B83C-66315D4DF400}"/>
              </a:ext>
            </a:extLst>
          </p:cNvPr>
          <p:cNvSpPr>
            <a:spLocks xmlns:a="http://schemas.openxmlformats.org/drawingml/2006/main" noGrp="1"/>
          </p:cNvSpPr>
          <p:nvPr/>
        </p:nvSpPr>
        <p:spPr>
          <a:xfrm xmlns:a="http://schemas.openxmlformats.org/drawingml/2006/main">
            <a:off x="971550" y="42862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An accused cannot be denied a defence because the charge is unpopular or disturbing.</a:t>
            </a:r>
          </a:p>
        </p:txBody>
      </p:sp>
      <p:sp>
        <p:nvSpPr>
          <p:cNvPr id="14" name="item-rule-2">
            <a:extLst xmlns:a="http://schemas.openxmlformats.org/drawingml/2006/main">
              <a:ext uri="{FF2B5EF4-FFF2-40B4-BE49-F238E27FC236}">
                <a16:creationId xmlns:a16="http://schemas.microsoft.com/office/drawing/2014/main" id="{EF1185F5-E168-4D6B-81E6-6425CE777952}"/>
              </a:ext>
            </a:extLst>
          </p:cNvPr>
          <p:cNvSpPr>
            <a:spLocks xmlns:a="http://schemas.openxmlformats.org/drawingml/2006/main" noGrp="1"/>
          </p:cNvSpPr>
          <p:nvPr/>
        </p:nvSpPr>
        <p:spPr>
          <a:xfrm xmlns:a="http://schemas.openxmlformats.org/drawingml/2006/main">
            <a:off x="685800" y="5038725"/>
            <a:ext cx="57150" cy="80010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15" name="item-head-2">
            <a:extLst xmlns:a="http://schemas.openxmlformats.org/drawingml/2006/main">
              <a:ext uri="{FF2B5EF4-FFF2-40B4-BE49-F238E27FC236}">
                <a16:creationId xmlns:a16="http://schemas.microsoft.com/office/drawing/2014/main" id="{39A3368D-DDDC-4C2F-9739-70E21E002577}"/>
              </a:ext>
            </a:extLst>
          </p:cNvPr>
          <p:cNvSpPr>
            <a:spLocks xmlns:a="http://schemas.openxmlformats.org/drawingml/2006/main" noGrp="1"/>
          </p:cNvSpPr>
          <p:nvPr/>
        </p:nvSpPr>
        <p:spPr>
          <a:xfrm xmlns:a="http://schemas.openxmlformats.org/drawingml/2006/main">
            <a:off x="971550" y="49911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17242B"/>
                </a:solidFill>
              </a:defRPr>
            </a:defPPr>
            <a:lvl1pPr algn="l">
              <a:defRPr sz="1800" b="1">
                <a:solidFill>
                  <a:srgbClr val="17242B"/>
                </a:solidFill>
              </a:defRPr>
            </a:lvl1pPr>
            <a:lvl2pPr algn="l">
              <a:defRPr sz="1800" b="1">
                <a:solidFill>
                  <a:srgbClr val="17242B"/>
                </a:solidFill>
              </a:defRPr>
            </a:lvl2pPr>
            <a:lvl3pPr algn="l">
              <a:defRPr sz="1800" b="1">
                <a:solidFill>
                  <a:srgbClr val="17242B"/>
                </a:solidFill>
              </a:defRPr>
            </a:lvl3pPr>
            <a:lvl4pPr algn="l">
              <a:defRPr sz="1800" b="1">
                <a:solidFill>
                  <a:srgbClr val="17242B"/>
                </a:solidFill>
              </a:defRPr>
            </a:lvl4pPr>
            <a:lvl5pPr algn="l">
              <a:defRPr sz="1800" b="1">
                <a:solidFill>
                  <a:srgbClr val="17242B"/>
                </a:solidFill>
              </a:defRPr>
            </a:lvl5pPr>
            <a:lvl6pPr algn="l">
              <a:defRPr sz="1800" b="1">
                <a:solidFill>
                  <a:srgbClr val="17242B"/>
                </a:solidFill>
              </a:defRPr>
            </a:lvl6pPr>
            <a:lvl7pPr algn="l">
              <a:defRPr sz="1800" b="1">
                <a:solidFill>
                  <a:srgbClr val="17242B"/>
                </a:solidFill>
              </a:defRPr>
            </a:lvl7pPr>
            <a:lvl8pPr algn="l">
              <a:defRPr sz="1800" b="1">
                <a:solidFill>
                  <a:srgbClr val="17242B"/>
                </a:solidFill>
              </a:defRPr>
            </a:lvl8pPr>
            <a:lvl9pPr algn="l">
              <a:defRPr sz="1800" b="1">
                <a:solidFill>
                  <a:srgbClr val="17242B"/>
                </a:solidFill>
              </a:defRPr>
            </a:lvl9pPr>
          </a:lstStyle>
          <a:p xmlns:a="http://schemas.openxmlformats.org/drawingml/2006/main">
            <a:pPr algn="l">
              <a:defRPr sz="1800" b="1">
                <a:solidFill>
                  <a:srgbClr val="17242B"/>
                </a:solidFill>
              </a:defRPr>
            </a:pPr>
            <a:r>
              <a:rPr sz="1800" b="1">
                <a:solidFill>
                  <a:srgbClr val="17242B"/>
                </a:solidFill>
              </a:rPr>
              <a:t>The Bar must remain independent</a:t>
            </a:r>
          </a:p>
        </p:txBody>
      </p:sp>
      <p:sp>
        <p:nvSpPr>
          <p:cNvPr id="16" name="item-body-2">
            <a:extLst xmlns:a="http://schemas.openxmlformats.org/drawingml/2006/main">
              <a:ext uri="{FF2B5EF4-FFF2-40B4-BE49-F238E27FC236}">
                <a16:creationId xmlns:a16="http://schemas.microsoft.com/office/drawing/2014/main" id="{6F3D6881-B31A-4B5F-83EF-8190D872251E}"/>
              </a:ext>
            </a:extLst>
          </p:cNvPr>
          <p:cNvSpPr>
            <a:spLocks xmlns:a="http://schemas.openxmlformats.org/drawingml/2006/main" noGrp="1"/>
          </p:cNvSpPr>
          <p:nvPr/>
        </p:nvSpPr>
        <p:spPr>
          <a:xfrm xmlns:a="http://schemas.openxmlformats.org/drawingml/2006/main">
            <a:off x="971550" y="535305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627078"/>
                </a:solidFill>
              </a:defRPr>
            </a:defPPr>
            <a:lvl1pPr algn="l">
              <a:defRPr sz="1425" b="0">
                <a:solidFill>
                  <a:srgbClr val="627078"/>
                </a:solidFill>
              </a:defRPr>
            </a:lvl1pPr>
            <a:lvl2pPr algn="l">
              <a:defRPr sz="1425" b="0">
                <a:solidFill>
                  <a:srgbClr val="627078"/>
                </a:solidFill>
              </a:defRPr>
            </a:lvl2pPr>
            <a:lvl3pPr algn="l">
              <a:defRPr sz="1425" b="0">
                <a:solidFill>
                  <a:srgbClr val="627078"/>
                </a:solidFill>
              </a:defRPr>
            </a:lvl3pPr>
            <a:lvl4pPr algn="l">
              <a:defRPr sz="1425" b="0">
                <a:solidFill>
                  <a:srgbClr val="627078"/>
                </a:solidFill>
              </a:defRPr>
            </a:lvl4pPr>
            <a:lvl5pPr algn="l">
              <a:defRPr sz="1425" b="0">
                <a:solidFill>
                  <a:srgbClr val="627078"/>
                </a:solidFill>
              </a:defRPr>
            </a:lvl5pPr>
            <a:lvl6pPr algn="l">
              <a:defRPr sz="1425" b="0">
                <a:solidFill>
                  <a:srgbClr val="627078"/>
                </a:solidFill>
              </a:defRPr>
            </a:lvl6pPr>
            <a:lvl7pPr algn="l">
              <a:defRPr sz="1425" b="0">
                <a:solidFill>
                  <a:srgbClr val="627078"/>
                </a:solidFill>
              </a:defRPr>
            </a:lvl7pPr>
            <a:lvl8pPr algn="l">
              <a:defRPr sz="1425" b="0">
                <a:solidFill>
                  <a:srgbClr val="627078"/>
                </a:solidFill>
              </a:defRPr>
            </a:lvl8pPr>
            <a:lvl9pPr algn="l">
              <a:defRPr sz="1425" b="0">
                <a:solidFill>
                  <a:srgbClr val="627078"/>
                </a:solidFill>
              </a:defRPr>
            </a:lvl9pPr>
          </a:lstStyle>
          <a:p xmlns:a="http://schemas.openxmlformats.org/drawingml/2006/main">
            <a:pPr algn="l">
              <a:defRPr sz="1425" b="0">
                <a:solidFill>
                  <a:srgbClr val="627078"/>
                </a:solidFill>
              </a:defRPr>
            </a:pPr>
            <a:r>
              <a:rPr sz="1425" b="0">
                <a:solidFill>
                  <a:srgbClr val="627078"/>
                </a:solidFill>
              </a:rPr>
              <a:t>A collective resolution cannot make access to a lawyer depend on social approval.</a:t>
            </a:r>
          </a:p>
        </p:txBody>
      </p:sp>
    </p:spTree>
    <p:extLst>
      <p:ext uri="{BB962C8B-B14F-4D97-AF65-F5344CB8AC3E}">
        <p14:creationId xmlns:p14="http://schemas.microsoft.com/office/powerpoint/2010/main" val="709540348"/>
      </p:ext>
    </p:extLst>
  </p:cSld>
</p:sld>
</file>

<file path=ppt/slides/slide7.xml><?xml version="1.0" encoding="utf-8"?>
<p:sld xmlns:p="http://schemas.openxmlformats.org/presentationml/2006/main">
  <p:cSld>
    <p:bg>
      <p:bgPr>
        <a:solidFill xmlns:a="http://schemas.openxmlformats.org/drawingml/2006/main">
          <a:srgbClr val="F6F2E9"/>
        </a:solidFill>
      </p:bgPr>
    </p:bg>
    <p:spTree>
      <p:nvGrpSpPr>
        <p:cNvPr id="1" name=""/>
        <p:cNvGrpSpPr/>
        <p:nvPr/>
      </p:nvGrpSpPr>
      <p:grpSpPr>
        <a:xfrm xmlns:a="http://schemas.openxmlformats.org/drawingml/2006/main"/>
      </p:grpSpPr>
      <p:sp>
        <p:nvSpPr>
          <p:cNvPr id="16" name="top-accent">
            <a:extLst xmlns:a="http://schemas.openxmlformats.org/drawingml/2006/main">
              <a:ext uri="{FF2B5EF4-FFF2-40B4-BE49-F238E27FC236}">
                <a16:creationId xmlns:a16="http://schemas.microsoft.com/office/drawing/2014/main" id="{8634E255-0531-48B4-A7F9-FF14A9E20BF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7A2534"/>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E70D5BB1-5490-40D4-9AA8-9CA5C28E61BE}"/>
              </a:ext>
            </a:extLst>
          </p:cNvPr>
          <p:cNvSpPr>
            <a:spLocks xmlns:a="http://schemas.openxmlformats.org/drawingml/2006/main" noGrp="1"/>
          </p:cNvSpPr>
          <p:nvPr/>
        </p:nvSpPr>
        <p:spPr>
          <a:xfrm xmlns:a="http://schemas.openxmlformats.org/drawingml/2006/main">
            <a:off x="685800" y="3619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7A2534"/>
                </a:solidFill>
              </a:defRPr>
            </a:defPPr>
            <a:lvl1pPr algn="l">
              <a:defRPr sz="1125" b="1">
                <a:solidFill>
                  <a:srgbClr val="7A2534"/>
                </a:solidFill>
              </a:defRPr>
            </a:lvl1pPr>
            <a:lvl2pPr algn="l">
              <a:defRPr sz="1125" b="1">
                <a:solidFill>
                  <a:srgbClr val="7A2534"/>
                </a:solidFill>
              </a:defRPr>
            </a:lvl2pPr>
            <a:lvl3pPr algn="l">
              <a:defRPr sz="1125" b="1">
                <a:solidFill>
                  <a:srgbClr val="7A2534"/>
                </a:solidFill>
              </a:defRPr>
            </a:lvl3pPr>
            <a:lvl4pPr algn="l">
              <a:defRPr sz="1125" b="1">
                <a:solidFill>
                  <a:srgbClr val="7A2534"/>
                </a:solidFill>
              </a:defRPr>
            </a:lvl4pPr>
            <a:lvl5pPr algn="l">
              <a:defRPr sz="1125" b="1">
                <a:solidFill>
                  <a:srgbClr val="7A2534"/>
                </a:solidFill>
              </a:defRPr>
            </a:lvl5pPr>
            <a:lvl6pPr algn="l">
              <a:defRPr sz="1125" b="1">
                <a:solidFill>
                  <a:srgbClr val="7A2534"/>
                </a:solidFill>
              </a:defRPr>
            </a:lvl6pPr>
            <a:lvl7pPr algn="l">
              <a:defRPr sz="1125" b="1">
                <a:solidFill>
                  <a:srgbClr val="7A2534"/>
                </a:solidFill>
              </a:defRPr>
            </a:lvl7pPr>
            <a:lvl8pPr algn="l">
              <a:defRPr sz="1125" b="1">
                <a:solidFill>
                  <a:srgbClr val="7A2534"/>
                </a:solidFill>
              </a:defRPr>
            </a:lvl8pPr>
            <a:lvl9pPr algn="l">
              <a:defRPr sz="1125" b="1">
                <a:solidFill>
                  <a:srgbClr val="7A2534"/>
                </a:solidFill>
              </a:defRPr>
            </a:lvl9pPr>
          </a:lstStyle>
          <a:p xmlns:a="http://schemas.openxmlformats.org/drawingml/2006/main">
            <a:pPr algn="l">
              <a:defRPr sz="1125" b="1">
                <a:solidFill>
                  <a:srgbClr val="7A2534"/>
                </a:solidFill>
              </a:defRPr>
            </a:pPr>
            <a:r>
              <a:rPr sz="1125" b="1">
                <a:solidFill>
                  <a:srgbClr val="7A2534"/>
                </a:solidFill>
              </a:rPr>
              <a:t>CONCLUSION</a:t>
            </a:r>
          </a:p>
        </p:txBody>
      </p:sp>
      <p:sp>
        <p:nvSpPr>
          <p:cNvPr id="3" name="slide-title">
            <a:extLst xmlns:a="http://schemas.openxmlformats.org/drawingml/2006/main">
              <a:ext uri="{FF2B5EF4-FFF2-40B4-BE49-F238E27FC236}">
                <a16:creationId xmlns:a16="http://schemas.microsoft.com/office/drawing/2014/main" id="{29AE6080-D721-4DCA-A30E-1B5C550D1FC9}"/>
              </a:ext>
            </a:extLst>
          </p:cNvPr>
          <p:cNvSpPr>
            <a:spLocks xmlns:a="http://schemas.openxmlformats.org/drawingml/2006/main" noGrp="1"/>
          </p:cNvSpPr>
          <p:nvPr/>
        </p:nvSpPr>
        <p:spPr>
          <a:xfrm xmlns:a="http://schemas.openxmlformats.org/drawingml/2006/main">
            <a:off x="685800" y="7048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17242B"/>
                </a:solidFill>
              </a:defRPr>
            </a:defPPr>
            <a:lvl1pPr algn="l">
              <a:defRPr sz="2850" b="1">
                <a:solidFill>
                  <a:srgbClr val="17242B"/>
                </a:solidFill>
              </a:defRPr>
            </a:lvl1pPr>
            <a:lvl2pPr algn="l">
              <a:defRPr sz="2850" b="1">
                <a:solidFill>
                  <a:srgbClr val="17242B"/>
                </a:solidFill>
              </a:defRPr>
            </a:lvl2pPr>
            <a:lvl3pPr algn="l">
              <a:defRPr sz="2850" b="1">
                <a:solidFill>
                  <a:srgbClr val="17242B"/>
                </a:solidFill>
              </a:defRPr>
            </a:lvl3pPr>
            <a:lvl4pPr algn="l">
              <a:defRPr sz="2850" b="1">
                <a:solidFill>
                  <a:srgbClr val="17242B"/>
                </a:solidFill>
              </a:defRPr>
            </a:lvl4pPr>
            <a:lvl5pPr algn="l">
              <a:defRPr sz="2850" b="1">
                <a:solidFill>
                  <a:srgbClr val="17242B"/>
                </a:solidFill>
              </a:defRPr>
            </a:lvl5pPr>
            <a:lvl6pPr algn="l">
              <a:defRPr sz="2850" b="1">
                <a:solidFill>
                  <a:srgbClr val="17242B"/>
                </a:solidFill>
              </a:defRPr>
            </a:lvl6pPr>
            <a:lvl7pPr algn="l">
              <a:defRPr sz="2850" b="1">
                <a:solidFill>
                  <a:srgbClr val="17242B"/>
                </a:solidFill>
              </a:defRPr>
            </a:lvl7pPr>
            <a:lvl8pPr algn="l">
              <a:defRPr sz="2850" b="1">
                <a:solidFill>
                  <a:srgbClr val="17242B"/>
                </a:solidFill>
              </a:defRPr>
            </a:lvl8pPr>
            <a:lvl9pPr algn="l">
              <a:defRPr sz="2850" b="1">
                <a:solidFill>
                  <a:srgbClr val="17242B"/>
                </a:solidFill>
              </a:defRPr>
            </a:lvl9pPr>
          </a:lstStyle>
          <a:p xmlns:a="http://schemas.openxmlformats.org/drawingml/2006/main">
            <a:pPr algn="l">
              <a:defRPr sz="2850" b="1">
                <a:solidFill>
                  <a:srgbClr val="17242B"/>
                </a:solidFill>
              </a:defRPr>
            </a:pPr>
            <a:r>
              <a:rPr sz="2850" b="1">
                <a:solidFill>
                  <a:srgbClr val="17242B"/>
                </a:solidFill>
              </a:rPr>
              <a:t>What this case asks of future advocates</a:t>
            </a:r>
          </a:p>
        </p:txBody>
      </p:sp>
      <p:sp>
        <p:nvSpPr>
          <p:cNvPr id="4" name="footer-rule">
            <a:extLst xmlns:a="http://schemas.openxmlformats.org/drawingml/2006/main">
              <a:ext uri="{FF2B5EF4-FFF2-40B4-BE49-F238E27FC236}">
                <a16:creationId xmlns:a16="http://schemas.microsoft.com/office/drawing/2014/main" id="{B62D79F0-575C-4A6D-8071-95561EC54301}"/>
              </a:ext>
            </a:extLst>
          </p:cNvPr>
          <p:cNvSpPr>
            <a:spLocks xmlns:a="http://schemas.openxmlformats.org/drawingml/2006/main" noGrp="1"/>
          </p:cNvSpPr>
          <p:nvPr/>
        </p:nvSpPr>
        <p:spPr>
          <a:xfrm xmlns:a="http://schemas.openxmlformats.org/drawingml/2006/main">
            <a:off x="685800" y="6334125"/>
            <a:ext cx="10820400" cy="9525"/>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5" name="footer-case">
            <a:extLst xmlns:a="http://schemas.openxmlformats.org/drawingml/2006/main">
              <a:ext uri="{FF2B5EF4-FFF2-40B4-BE49-F238E27FC236}">
                <a16:creationId xmlns:a16="http://schemas.microsoft.com/office/drawing/2014/main" id="{597EB6E8-2A86-4210-A734-762775BEF997}"/>
              </a:ext>
            </a:extLst>
          </p:cNvPr>
          <p:cNvSpPr>
            <a:spLocks xmlns:a="http://schemas.openxmlformats.org/drawingml/2006/main" noGrp="1"/>
          </p:cNvSpPr>
          <p:nvPr/>
        </p:nvSpPr>
        <p:spPr>
          <a:xfrm xmlns:a="http://schemas.openxmlformats.org/drawingml/2006/main">
            <a:off x="685800" y="64293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627078"/>
                </a:solidFill>
              </a:defRPr>
            </a:defPPr>
            <a:lvl1pPr algn="l">
              <a:defRPr sz="1050" b="0">
                <a:solidFill>
                  <a:srgbClr val="627078"/>
                </a:solidFill>
              </a:defRPr>
            </a:lvl1pPr>
            <a:lvl2pPr algn="l">
              <a:defRPr sz="1050" b="0">
                <a:solidFill>
                  <a:srgbClr val="627078"/>
                </a:solidFill>
              </a:defRPr>
            </a:lvl2pPr>
            <a:lvl3pPr algn="l">
              <a:defRPr sz="1050" b="0">
                <a:solidFill>
                  <a:srgbClr val="627078"/>
                </a:solidFill>
              </a:defRPr>
            </a:lvl3pPr>
            <a:lvl4pPr algn="l">
              <a:defRPr sz="1050" b="0">
                <a:solidFill>
                  <a:srgbClr val="627078"/>
                </a:solidFill>
              </a:defRPr>
            </a:lvl4pPr>
            <a:lvl5pPr algn="l">
              <a:defRPr sz="1050" b="0">
                <a:solidFill>
                  <a:srgbClr val="627078"/>
                </a:solidFill>
              </a:defRPr>
            </a:lvl5pPr>
            <a:lvl6pPr algn="l">
              <a:defRPr sz="1050" b="0">
                <a:solidFill>
                  <a:srgbClr val="627078"/>
                </a:solidFill>
              </a:defRPr>
            </a:lvl6pPr>
            <a:lvl7pPr algn="l">
              <a:defRPr sz="1050" b="0">
                <a:solidFill>
                  <a:srgbClr val="627078"/>
                </a:solidFill>
              </a:defRPr>
            </a:lvl7pPr>
            <a:lvl8pPr algn="l">
              <a:defRPr sz="1050" b="0">
                <a:solidFill>
                  <a:srgbClr val="627078"/>
                </a:solidFill>
              </a:defRPr>
            </a:lvl8pPr>
            <a:lvl9pPr algn="l">
              <a:defRPr sz="1050" b="0">
                <a:solidFill>
                  <a:srgbClr val="627078"/>
                </a:solidFill>
              </a:defRPr>
            </a:lvl9pPr>
          </a:lstStyle>
          <a:p xmlns:a="http://schemas.openxmlformats.org/drawingml/2006/main">
            <a:pPr algn="l">
              <a:defRPr sz="1050" b="0">
                <a:solidFill>
                  <a:srgbClr val="627078"/>
                </a:solidFill>
              </a:defRPr>
            </a:pPr>
            <a:r>
              <a:rPr sz="1050" b="0">
                <a:solidFill>
                  <a:srgbClr val="627078"/>
                </a:solidFill>
              </a:rPr>
              <a:t>A.S. Mohammed Rafi v. State of Tamil Nadu  •  Supreme Court of India</a:t>
            </a:r>
          </a:p>
        </p:txBody>
      </p:sp>
      <p:sp>
        <p:nvSpPr>
          <p:cNvPr id="6" name="slide-number">
            <a:extLst xmlns:a="http://schemas.openxmlformats.org/drawingml/2006/main">
              <a:ext uri="{FF2B5EF4-FFF2-40B4-BE49-F238E27FC236}">
                <a16:creationId xmlns:a16="http://schemas.microsoft.com/office/drawing/2014/main" id="{3E8C6578-6DE1-4559-B9A9-220A687F7E2D}"/>
              </a:ext>
            </a:extLst>
          </p:cNvPr>
          <p:cNvSpPr>
            <a:spLocks xmlns:a="http://schemas.openxmlformats.org/drawingml/2006/main" noGrp="1"/>
          </p:cNvSpPr>
          <p:nvPr/>
        </p:nvSpPr>
        <p:spPr>
          <a:xfrm xmlns:a="http://schemas.openxmlformats.org/drawingml/2006/main">
            <a:off x="10858500" y="6429375"/>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a:solidFill>
                  <a:srgbClr val="7A2534"/>
                </a:solidFill>
              </a:defRPr>
            </a:defPPr>
            <a:lvl1pPr algn="r">
              <a:defRPr sz="1050" b="1">
                <a:solidFill>
                  <a:srgbClr val="7A2534"/>
                </a:solidFill>
              </a:defRPr>
            </a:lvl1pPr>
            <a:lvl2pPr algn="r">
              <a:defRPr sz="1050" b="1">
                <a:solidFill>
                  <a:srgbClr val="7A2534"/>
                </a:solidFill>
              </a:defRPr>
            </a:lvl2pPr>
            <a:lvl3pPr algn="r">
              <a:defRPr sz="1050" b="1">
                <a:solidFill>
                  <a:srgbClr val="7A2534"/>
                </a:solidFill>
              </a:defRPr>
            </a:lvl3pPr>
            <a:lvl4pPr algn="r">
              <a:defRPr sz="1050" b="1">
                <a:solidFill>
                  <a:srgbClr val="7A2534"/>
                </a:solidFill>
              </a:defRPr>
            </a:lvl4pPr>
            <a:lvl5pPr algn="r">
              <a:defRPr sz="1050" b="1">
                <a:solidFill>
                  <a:srgbClr val="7A2534"/>
                </a:solidFill>
              </a:defRPr>
            </a:lvl5pPr>
            <a:lvl6pPr algn="r">
              <a:defRPr sz="1050" b="1">
                <a:solidFill>
                  <a:srgbClr val="7A2534"/>
                </a:solidFill>
              </a:defRPr>
            </a:lvl6pPr>
            <a:lvl7pPr algn="r">
              <a:defRPr sz="1050" b="1">
                <a:solidFill>
                  <a:srgbClr val="7A2534"/>
                </a:solidFill>
              </a:defRPr>
            </a:lvl7pPr>
            <a:lvl8pPr algn="r">
              <a:defRPr sz="1050" b="1">
                <a:solidFill>
                  <a:srgbClr val="7A2534"/>
                </a:solidFill>
              </a:defRPr>
            </a:lvl8pPr>
            <a:lvl9pPr algn="r">
              <a:defRPr sz="1050" b="1">
                <a:solidFill>
                  <a:srgbClr val="7A2534"/>
                </a:solidFill>
              </a:defRPr>
            </a:lvl9pPr>
          </a:lstStyle>
          <a:p xmlns:a="http://schemas.openxmlformats.org/drawingml/2006/main">
            <a:pPr algn="r">
              <a:defRPr sz="1050" b="1">
                <a:solidFill>
                  <a:srgbClr val="7A2534"/>
                </a:solidFill>
              </a:defRPr>
            </a:pPr>
            <a:r>
              <a:rPr sz="1050" b="1">
                <a:solidFill>
                  <a:srgbClr val="7A2534"/>
                </a:solidFill>
              </a:rPr>
              <a:t>07</a:t>
            </a:r>
          </a:p>
        </p:txBody>
      </p:sp>
      <p:sp>
        <p:nvSpPr>
          <p:cNvPr id="7" name="takeaway">
            <a:extLst xmlns:a="http://schemas.openxmlformats.org/drawingml/2006/main">
              <a:ext uri="{FF2B5EF4-FFF2-40B4-BE49-F238E27FC236}">
                <a16:creationId xmlns:a16="http://schemas.microsoft.com/office/drawing/2014/main" id="{58435915-E77D-4164-A789-A4CADF1060D6}"/>
              </a:ext>
            </a:extLst>
          </p:cNvPr>
          <p:cNvSpPr>
            <a:spLocks xmlns:a="http://schemas.openxmlformats.org/drawingml/2006/main" noGrp="1"/>
          </p:cNvSpPr>
          <p:nvPr/>
        </p:nvSpPr>
        <p:spPr>
          <a:xfrm xmlns:a="http://schemas.openxmlformats.org/drawingml/2006/main">
            <a:off x="685800" y="16192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a:solidFill>
                  <a:srgbClr val="7A2534"/>
                </a:solidFill>
              </a:defRPr>
            </a:defPPr>
            <a:lvl1pPr algn="l">
              <a:defRPr sz="2850" b="1">
                <a:solidFill>
                  <a:srgbClr val="7A2534"/>
                </a:solidFill>
              </a:defRPr>
            </a:lvl1pPr>
            <a:lvl2pPr algn="l">
              <a:defRPr sz="2850" b="1">
                <a:solidFill>
                  <a:srgbClr val="7A2534"/>
                </a:solidFill>
              </a:defRPr>
            </a:lvl2pPr>
            <a:lvl3pPr algn="l">
              <a:defRPr sz="2850" b="1">
                <a:solidFill>
                  <a:srgbClr val="7A2534"/>
                </a:solidFill>
              </a:defRPr>
            </a:lvl3pPr>
            <a:lvl4pPr algn="l">
              <a:defRPr sz="2850" b="1">
                <a:solidFill>
                  <a:srgbClr val="7A2534"/>
                </a:solidFill>
              </a:defRPr>
            </a:lvl4pPr>
            <a:lvl5pPr algn="l">
              <a:defRPr sz="2850" b="1">
                <a:solidFill>
                  <a:srgbClr val="7A2534"/>
                </a:solidFill>
              </a:defRPr>
            </a:lvl5pPr>
            <a:lvl6pPr algn="l">
              <a:defRPr sz="2850" b="1">
                <a:solidFill>
                  <a:srgbClr val="7A2534"/>
                </a:solidFill>
              </a:defRPr>
            </a:lvl6pPr>
            <a:lvl7pPr algn="l">
              <a:defRPr sz="2850" b="1">
                <a:solidFill>
                  <a:srgbClr val="7A2534"/>
                </a:solidFill>
              </a:defRPr>
            </a:lvl7pPr>
            <a:lvl8pPr algn="l">
              <a:defRPr sz="2850" b="1">
                <a:solidFill>
                  <a:srgbClr val="7A2534"/>
                </a:solidFill>
              </a:defRPr>
            </a:lvl8pPr>
            <a:lvl9pPr algn="l">
              <a:defRPr sz="2850" b="1">
                <a:solidFill>
                  <a:srgbClr val="7A2534"/>
                </a:solidFill>
              </a:defRPr>
            </a:lvl9pPr>
          </a:lstStyle>
          <a:p xmlns:a="http://schemas.openxmlformats.org/drawingml/2006/main">
            <a:pPr algn="l">
              <a:defRPr sz="2850" b="1">
                <a:solidFill>
                  <a:srgbClr val="7A2534"/>
                </a:solidFill>
              </a:defRPr>
            </a:pPr>
            <a:r>
              <a:rPr sz="2850" b="1">
                <a:solidFill>
                  <a:srgbClr val="7A2534"/>
                </a:solidFill>
              </a:rPr>
              <a:t>When the accused is unpopular, professional ethics matter most.</a:t>
            </a:r>
          </a:p>
        </p:txBody>
      </p:sp>
      <p:sp>
        <p:nvSpPr>
          <p:cNvPr id="8" name="practice-title">
            <a:extLst xmlns:a="http://schemas.openxmlformats.org/drawingml/2006/main">
              <a:ext uri="{FF2B5EF4-FFF2-40B4-BE49-F238E27FC236}">
                <a16:creationId xmlns:a16="http://schemas.microsoft.com/office/drawing/2014/main" id="{BDCB28DE-51DA-48EA-9A6D-A4FC5D8EE609}"/>
              </a:ext>
            </a:extLst>
          </p:cNvPr>
          <p:cNvSpPr>
            <a:spLocks xmlns:a="http://schemas.openxmlformats.org/drawingml/2006/main" noGrp="1"/>
          </p:cNvSpPr>
          <p:nvPr/>
        </p:nvSpPr>
        <p:spPr>
          <a:xfrm xmlns:a="http://schemas.openxmlformats.org/drawingml/2006/main">
            <a:off x="685800" y="2724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627078"/>
                </a:solidFill>
              </a:defRPr>
            </a:defPPr>
            <a:lvl1pPr algn="l">
              <a:defRPr sz="1425" b="1">
                <a:solidFill>
                  <a:srgbClr val="627078"/>
                </a:solidFill>
              </a:defRPr>
            </a:lvl1pPr>
            <a:lvl2pPr algn="l">
              <a:defRPr sz="1425" b="1">
                <a:solidFill>
                  <a:srgbClr val="627078"/>
                </a:solidFill>
              </a:defRPr>
            </a:lvl2pPr>
            <a:lvl3pPr algn="l">
              <a:defRPr sz="1425" b="1">
                <a:solidFill>
                  <a:srgbClr val="627078"/>
                </a:solidFill>
              </a:defRPr>
            </a:lvl3pPr>
            <a:lvl4pPr algn="l">
              <a:defRPr sz="1425" b="1">
                <a:solidFill>
                  <a:srgbClr val="627078"/>
                </a:solidFill>
              </a:defRPr>
            </a:lvl4pPr>
            <a:lvl5pPr algn="l">
              <a:defRPr sz="1425" b="1">
                <a:solidFill>
                  <a:srgbClr val="627078"/>
                </a:solidFill>
              </a:defRPr>
            </a:lvl5pPr>
            <a:lvl6pPr algn="l">
              <a:defRPr sz="1425" b="1">
                <a:solidFill>
                  <a:srgbClr val="627078"/>
                </a:solidFill>
              </a:defRPr>
            </a:lvl6pPr>
            <a:lvl7pPr algn="l">
              <a:defRPr sz="1425" b="1">
                <a:solidFill>
                  <a:srgbClr val="627078"/>
                </a:solidFill>
              </a:defRPr>
            </a:lvl7pPr>
            <a:lvl8pPr algn="l">
              <a:defRPr sz="1425" b="1">
                <a:solidFill>
                  <a:srgbClr val="627078"/>
                </a:solidFill>
              </a:defRPr>
            </a:lvl8pPr>
            <a:lvl9pPr algn="l">
              <a:defRPr sz="1425" b="1">
                <a:solidFill>
                  <a:srgbClr val="627078"/>
                </a:solidFill>
              </a:defRPr>
            </a:lvl9pPr>
          </a:lstStyle>
          <a:p xmlns:a="http://schemas.openxmlformats.org/drawingml/2006/main">
            <a:pPr algn="l">
              <a:defRPr sz="1425" b="1">
                <a:solidFill>
                  <a:srgbClr val="627078"/>
                </a:solidFill>
              </a:defRPr>
            </a:pPr>
            <a:r>
              <a:rPr sz="1425" b="1">
                <a:solidFill>
                  <a:srgbClr val="627078"/>
                </a:solidFill>
              </a:rPr>
              <a:t>In practice</a:t>
            </a:r>
          </a:p>
        </p:txBody>
      </p:sp>
      <p:sp>
        <p:nvSpPr>
          <p:cNvPr id="9" name="practice">
            <a:extLst xmlns:a="http://schemas.openxmlformats.org/drawingml/2006/main">
              <a:ext uri="{FF2B5EF4-FFF2-40B4-BE49-F238E27FC236}">
                <a16:creationId xmlns:a16="http://schemas.microsoft.com/office/drawing/2014/main" id="{D7B31316-4ADD-4FAA-A62D-8034F988AE06}"/>
              </a:ext>
            </a:extLst>
          </p:cNvPr>
          <p:cNvSpPr>
            <a:spLocks xmlns:a="http://schemas.openxmlformats.org/drawingml/2006/main" noGrp="1"/>
          </p:cNvSpPr>
          <p:nvPr/>
        </p:nvSpPr>
        <p:spPr>
          <a:xfrm xmlns:a="http://schemas.openxmlformats.org/drawingml/2006/main">
            <a:off x="685800" y="3181350"/>
            <a:ext cx="47434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17242B"/>
                </a:solidFill>
              </a:defRPr>
            </a:defPPr>
            <a:lvl1pPr algn="l">
              <a:defRPr sz="1875" b="0">
                <a:solidFill>
                  <a:srgbClr val="17242B"/>
                </a:solidFill>
              </a:defRPr>
            </a:lvl1pPr>
            <a:lvl2pPr algn="l">
              <a:defRPr sz="1875" b="0">
                <a:solidFill>
                  <a:srgbClr val="17242B"/>
                </a:solidFill>
              </a:defRPr>
            </a:lvl2pPr>
            <a:lvl3pPr algn="l">
              <a:defRPr sz="1875" b="0">
                <a:solidFill>
                  <a:srgbClr val="17242B"/>
                </a:solidFill>
              </a:defRPr>
            </a:lvl3pPr>
            <a:lvl4pPr algn="l">
              <a:defRPr sz="1875" b="0">
                <a:solidFill>
                  <a:srgbClr val="17242B"/>
                </a:solidFill>
              </a:defRPr>
            </a:lvl4pPr>
            <a:lvl5pPr algn="l">
              <a:defRPr sz="1875" b="0">
                <a:solidFill>
                  <a:srgbClr val="17242B"/>
                </a:solidFill>
              </a:defRPr>
            </a:lvl5pPr>
            <a:lvl6pPr algn="l">
              <a:defRPr sz="1875" b="0">
                <a:solidFill>
                  <a:srgbClr val="17242B"/>
                </a:solidFill>
              </a:defRPr>
            </a:lvl6pPr>
            <a:lvl7pPr algn="l">
              <a:defRPr sz="1875" b="0">
                <a:solidFill>
                  <a:srgbClr val="17242B"/>
                </a:solidFill>
              </a:defRPr>
            </a:lvl7pPr>
            <a:lvl8pPr algn="l">
              <a:defRPr sz="1875" b="0">
                <a:solidFill>
                  <a:srgbClr val="17242B"/>
                </a:solidFill>
              </a:defRPr>
            </a:lvl8pPr>
            <a:lvl9pPr algn="l">
              <a:defRPr sz="1875" b="0">
                <a:solidFill>
                  <a:srgbClr val="17242B"/>
                </a:solidFill>
              </a:defRPr>
            </a:lvl9pPr>
          </a:lstStyle>
          <a:p xmlns:a="http://schemas.openxmlformats.org/drawingml/2006/main">
            <a:pPr algn="l">
              <a:defRPr sz="1875" b="0">
                <a:solidFill>
                  <a:srgbClr val="17242B"/>
                </a:solidFill>
              </a:defRPr>
            </a:pPr>
            <a:r>
              <a:rPr sz="1875" b="0">
                <a:solidFill>
                  <a:srgbClr val="17242B"/>
                </a:solidFill>
              </a:rPr>
              <a:t>Assess a brief independently. Do not let a collective boycott decide who may be represented. Preserve the court’s ability to test the case on evidence and law.</a:t>
            </a:r>
          </a:p>
        </p:txBody>
      </p:sp>
      <p:sp>
        <p:nvSpPr>
          <p:cNvPr id="10" name="question-divider">
            <a:extLst xmlns:a="http://schemas.openxmlformats.org/drawingml/2006/main">
              <a:ext uri="{FF2B5EF4-FFF2-40B4-BE49-F238E27FC236}">
                <a16:creationId xmlns:a16="http://schemas.microsoft.com/office/drawing/2014/main" id="{A0479A94-2BF0-45B9-9789-38BCC397265E}"/>
              </a:ext>
            </a:extLst>
          </p:cNvPr>
          <p:cNvSpPr>
            <a:spLocks xmlns:a="http://schemas.openxmlformats.org/drawingml/2006/main" noGrp="1"/>
          </p:cNvSpPr>
          <p:nvPr/>
        </p:nvSpPr>
        <p:spPr>
          <a:xfrm xmlns:a="http://schemas.openxmlformats.org/drawingml/2006/main">
            <a:off x="6096000" y="2705100"/>
            <a:ext cx="19050" cy="2324100"/>
          </a:xfrm>
          <a:prstGeom xmlns:a="http://schemas.openxmlformats.org/drawingml/2006/main" prst="rect">
            <a:avLst/>
          </a:prstGeom>
          <a:solidFill xmlns:a="http://schemas.openxmlformats.org/drawingml/2006/main">
            <a:srgbClr val="E7DFD1"/>
          </a:solidFill>
          <a:ln xmlns:a="http://schemas.openxmlformats.org/drawingml/2006/main" w="0">
            <a:noFill/>
            <a:prstDash val="solid"/>
          </a:ln>
        </p:spPr>
      </p:sp>
      <p:sp>
        <p:nvSpPr>
          <p:cNvPr id="11" name="discussion-title">
            <a:extLst xmlns:a="http://schemas.openxmlformats.org/drawingml/2006/main">
              <a:ext uri="{FF2B5EF4-FFF2-40B4-BE49-F238E27FC236}">
                <a16:creationId xmlns:a16="http://schemas.microsoft.com/office/drawing/2014/main" id="{E10F1A11-9F21-43F1-9CD1-D742BFB43537}"/>
              </a:ext>
            </a:extLst>
          </p:cNvPr>
          <p:cNvSpPr>
            <a:spLocks xmlns:a="http://schemas.openxmlformats.org/drawingml/2006/main" noGrp="1"/>
          </p:cNvSpPr>
          <p:nvPr/>
        </p:nvSpPr>
        <p:spPr>
          <a:xfrm xmlns:a="http://schemas.openxmlformats.org/drawingml/2006/main">
            <a:off x="6667500" y="27241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627078"/>
                </a:solidFill>
              </a:defRPr>
            </a:defPPr>
            <a:lvl1pPr algn="l">
              <a:defRPr sz="1425" b="1">
                <a:solidFill>
                  <a:srgbClr val="627078"/>
                </a:solidFill>
              </a:defRPr>
            </a:lvl1pPr>
            <a:lvl2pPr algn="l">
              <a:defRPr sz="1425" b="1">
                <a:solidFill>
                  <a:srgbClr val="627078"/>
                </a:solidFill>
              </a:defRPr>
            </a:lvl2pPr>
            <a:lvl3pPr algn="l">
              <a:defRPr sz="1425" b="1">
                <a:solidFill>
                  <a:srgbClr val="627078"/>
                </a:solidFill>
              </a:defRPr>
            </a:lvl3pPr>
            <a:lvl4pPr algn="l">
              <a:defRPr sz="1425" b="1">
                <a:solidFill>
                  <a:srgbClr val="627078"/>
                </a:solidFill>
              </a:defRPr>
            </a:lvl4pPr>
            <a:lvl5pPr algn="l">
              <a:defRPr sz="1425" b="1">
                <a:solidFill>
                  <a:srgbClr val="627078"/>
                </a:solidFill>
              </a:defRPr>
            </a:lvl5pPr>
            <a:lvl6pPr algn="l">
              <a:defRPr sz="1425" b="1">
                <a:solidFill>
                  <a:srgbClr val="627078"/>
                </a:solidFill>
              </a:defRPr>
            </a:lvl6pPr>
            <a:lvl7pPr algn="l">
              <a:defRPr sz="1425" b="1">
                <a:solidFill>
                  <a:srgbClr val="627078"/>
                </a:solidFill>
              </a:defRPr>
            </a:lvl7pPr>
            <a:lvl8pPr algn="l">
              <a:defRPr sz="1425" b="1">
                <a:solidFill>
                  <a:srgbClr val="627078"/>
                </a:solidFill>
              </a:defRPr>
            </a:lvl8pPr>
            <a:lvl9pPr algn="l">
              <a:defRPr sz="1425" b="1">
                <a:solidFill>
                  <a:srgbClr val="627078"/>
                </a:solidFill>
              </a:defRPr>
            </a:lvl9pPr>
          </a:lstStyle>
          <a:p xmlns:a="http://schemas.openxmlformats.org/drawingml/2006/main">
            <a:pPr algn="l">
              <a:defRPr sz="1425" b="1">
                <a:solidFill>
                  <a:srgbClr val="627078"/>
                </a:solidFill>
              </a:defRPr>
            </a:pPr>
            <a:r>
              <a:rPr sz="1425" b="1">
                <a:solidFill>
                  <a:srgbClr val="627078"/>
                </a:solidFill>
              </a:rPr>
              <a:t>For discussion</a:t>
            </a:r>
          </a:p>
        </p:txBody>
      </p:sp>
      <p:sp>
        <p:nvSpPr>
          <p:cNvPr id="12" name="discussion">
            <a:extLst xmlns:a="http://schemas.openxmlformats.org/drawingml/2006/main">
              <a:ext uri="{FF2B5EF4-FFF2-40B4-BE49-F238E27FC236}">
                <a16:creationId xmlns:a16="http://schemas.microsoft.com/office/drawing/2014/main" id="{A6A4464B-D973-4E68-9BE4-1938F683973C}"/>
              </a:ext>
            </a:extLst>
          </p:cNvPr>
          <p:cNvSpPr>
            <a:spLocks xmlns:a="http://schemas.openxmlformats.org/drawingml/2006/main" noGrp="1"/>
          </p:cNvSpPr>
          <p:nvPr/>
        </p:nvSpPr>
        <p:spPr>
          <a:xfrm xmlns:a="http://schemas.openxmlformats.org/drawingml/2006/main">
            <a:off x="6667500" y="318135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17242B"/>
                </a:solidFill>
              </a:defRPr>
            </a:defPPr>
            <a:lvl1pPr algn="l">
              <a:defRPr sz="2025" b="1">
                <a:solidFill>
                  <a:srgbClr val="17242B"/>
                </a:solidFill>
              </a:defRPr>
            </a:lvl1pPr>
            <a:lvl2pPr algn="l">
              <a:defRPr sz="2025" b="1">
                <a:solidFill>
                  <a:srgbClr val="17242B"/>
                </a:solidFill>
              </a:defRPr>
            </a:lvl2pPr>
            <a:lvl3pPr algn="l">
              <a:defRPr sz="2025" b="1">
                <a:solidFill>
                  <a:srgbClr val="17242B"/>
                </a:solidFill>
              </a:defRPr>
            </a:lvl3pPr>
            <a:lvl4pPr algn="l">
              <a:defRPr sz="2025" b="1">
                <a:solidFill>
                  <a:srgbClr val="17242B"/>
                </a:solidFill>
              </a:defRPr>
            </a:lvl4pPr>
            <a:lvl5pPr algn="l">
              <a:defRPr sz="2025" b="1">
                <a:solidFill>
                  <a:srgbClr val="17242B"/>
                </a:solidFill>
              </a:defRPr>
            </a:lvl5pPr>
            <a:lvl6pPr algn="l">
              <a:defRPr sz="2025" b="1">
                <a:solidFill>
                  <a:srgbClr val="17242B"/>
                </a:solidFill>
              </a:defRPr>
            </a:lvl6pPr>
            <a:lvl7pPr algn="l">
              <a:defRPr sz="2025" b="1">
                <a:solidFill>
                  <a:srgbClr val="17242B"/>
                </a:solidFill>
              </a:defRPr>
            </a:lvl7pPr>
            <a:lvl8pPr algn="l">
              <a:defRPr sz="2025" b="1">
                <a:solidFill>
                  <a:srgbClr val="17242B"/>
                </a:solidFill>
              </a:defRPr>
            </a:lvl8pPr>
            <a:lvl9pPr algn="l">
              <a:defRPr sz="2025" b="1">
                <a:solidFill>
                  <a:srgbClr val="17242B"/>
                </a:solidFill>
              </a:defRPr>
            </a:lvl9pPr>
          </a:lstStyle>
          <a:p xmlns:a="http://schemas.openxmlformats.org/drawingml/2006/main">
            <a:pPr algn="l">
              <a:defRPr sz="2025" b="1">
                <a:solidFill>
                  <a:srgbClr val="17242B"/>
                </a:solidFill>
              </a:defRPr>
            </a:pPr>
            <a:r>
              <a:rPr sz="2025" b="1">
                <a:solidFill>
                  <a:srgbClr val="17242B"/>
                </a:solidFill>
              </a:rPr>
              <a:t>Can a lawyer personally decline a brief? How is that different from a Bar Association directing every member to refuse it?</a:t>
            </a:r>
          </a:p>
        </p:txBody>
      </p:sp>
      <p:sp>
        <p:nvSpPr>
          <p:cNvPr id="13" name="source-rule">
            <a:extLst xmlns:a="http://schemas.openxmlformats.org/drawingml/2006/main">
              <a:ext uri="{FF2B5EF4-FFF2-40B4-BE49-F238E27FC236}">
                <a16:creationId xmlns:a16="http://schemas.microsoft.com/office/drawing/2014/main" id="{E861C055-03E4-489E-B0BA-EE948E999CF0}"/>
              </a:ext>
            </a:extLst>
          </p:cNvPr>
          <p:cNvSpPr>
            <a:spLocks xmlns:a="http://schemas.openxmlformats.org/drawingml/2006/main" noGrp="1"/>
          </p:cNvSpPr>
          <p:nvPr/>
        </p:nvSpPr>
        <p:spPr>
          <a:xfrm xmlns:a="http://schemas.openxmlformats.org/drawingml/2006/main">
            <a:off x="685800" y="5257800"/>
            <a:ext cx="10820400" cy="28575"/>
          </a:xfrm>
          <a:prstGeom xmlns:a="http://schemas.openxmlformats.org/drawingml/2006/main" prst="rect">
            <a:avLst/>
          </a:prstGeom>
          <a:solidFill xmlns:a="http://schemas.openxmlformats.org/drawingml/2006/main">
            <a:srgbClr val="B88A43"/>
          </a:solidFill>
          <a:ln xmlns:a="http://schemas.openxmlformats.org/drawingml/2006/main" w="0">
            <a:noFill/>
            <a:prstDash val="solid"/>
          </a:ln>
        </p:spPr>
      </p:sp>
      <p:sp>
        <p:nvSpPr>
          <p:cNvPr id="14" name="source-text">
            <a:extLst xmlns:a="http://schemas.openxmlformats.org/drawingml/2006/main">
              <a:ext uri="{FF2B5EF4-FFF2-40B4-BE49-F238E27FC236}">
                <a16:creationId xmlns:a16="http://schemas.microsoft.com/office/drawing/2014/main" id="{7F87CC39-1023-4E3D-8452-51E4D25DF995}"/>
              </a:ext>
            </a:extLst>
          </p:cNvPr>
          <p:cNvSpPr>
            <a:spLocks xmlns:a="http://schemas.openxmlformats.org/drawingml/2006/main" noGrp="1"/>
          </p:cNvSpPr>
          <p:nvPr/>
        </p:nvSpPr>
        <p:spPr>
          <a:xfrm xmlns:a="http://schemas.openxmlformats.org/drawingml/2006/main">
            <a:off x="685800" y="54864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a:solidFill>
                  <a:srgbClr val="627078"/>
                </a:solidFill>
              </a:defRPr>
            </a:defPPr>
            <a:lvl1pPr algn="ctr">
              <a:defRPr sz="1350" b="0">
                <a:solidFill>
                  <a:srgbClr val="627078"/>
                </a:solidFill>
              </a:defRPr>
            </a:lvl1pPr>
            <a:lvl2pPr algn="ctr">
              <a:defRPr sz="1350" b="0">
                <a:solidFill>
                  <a:srgbClr val="627078"/>
                </a:solidFill>
              </a:defRPr>
            </a:lvl2pPr>
            <a:lvl3pPr algn="ctr">
              <a:defRPr sz="1350" b="0">
                <a:solidFill>
                  <a:srgbClr val="627078"/>
                </a:solidFill>
              </a:defRPr>
            </a:lvl3pPr>
            <a:lvl4pPr algn="ctr">
              <a:defRPr sz="1350" b="0">
                <a:solidFill>
                  <a:srgbClr val="627078"/>
                </a:solidFill>
              </a:defRPr>
            </a:lvl4pPr>
            <a:lvl5pPr algn="ctr">
              <a:defRPr sz="1350" b="0">
                <a:solidFill>
                  <a:srgbClr val="627078"/>
                </a:solidFill>
              </a:defRPr>
            </a:lvl5pPr>
            <a:lvl6pPr algn="ctr">
              <a:defRPr sz="1350" b="0">
                <a:solidFill>
                  <a:srgbClr val="627078"/>
                </a:solidFill>
              </a:defRPr>
            </a:lvl6pPr>
            <a:lvl7pPr algn="ctr">
              <a:defRPr sz="1350" b="0">
                <a:solidFill>
                  <a:srgbClr val="627078"/>
                </a:solidFill>
              </a:defRPr>
            </a:lvl7pPr>
            <a:lvl8pPr algn="ctr">
              <a:defRPr sz="1350" b="0">
                <a:solidFill>
                  <a:srgbClr val="627078"/>
                </a:solidFill>
              </a:defRPr>
            </a:lvl8pPr>
            <a:lvl9pPr algn="ctr">
              <a:defRPr sz="1350" b="0">
                <a:solidFill>
                  <a:srgbClr val="627078"/>
                </a:solidFill>
              </a:defRPr>
            </a:lvl9pPr>
          </a:lstStyle>
          <a:p xmlns:a="http://schemas.openxmlformats.org/drawingml/2006/main">
            <a:pPr algn="ctr">
              <a:defRPr sz="1350" b="0">
                <a:solidFill>
                  <a:srgbClr val="627078"/>
                </a:solidFill>
              </a:defRPr>
            </a:pPr>
            <a:r>
              <a:rPr sz="1350" b="0">
                <a:solidFill>
                  <a:srgbClr val="627078"/>
                </a:solidFill>
              </a:rPr>
              <a:t>A.S. Mohammed Rafi v. State of Tamil Nadu  |  (2011) 1 SCC 688  |  AIR 2011 SC 308  |  decided 6 Dec 2010</a:t>
            </a:r>
          </a:p>
        </p:txBody>
      </p:sp>
      <p:sp>
        <p:nvSpPr>
          <p:cNvPr id="15" name="authority-text">
            <a:extLst xmlns:a="http://schemas.openxmlformats.org/drawingml/2006/main">
              <a:ext uri="{FF2B5EF4-FFF2-40B4-BE49-F238E27FC236}">
                <a16:creationId xmlns:a16="http://schemas.microsoft.com/office/drawing/2014/main" id="{7A2E525C-8E91-4014-8878-143650D5502F}"/>
              </a:ext>
            </a:extLst>
          </p:cNvPr>
          <p:cNvSpPr>
            <a:spLocks xmlns:a="http://schemas.openxmlformats.org/drawingml/2006/main" noGrp="1"/>
          </p:cNvSpPr>
          <p:nvPr/>
        </p:nvSpPr>
        <p:spPr>
          <a:xfrm xmlns:a="http://schemas.openxmlformats.org/drawingml/2006/main">
            <a:off x="685800" y="5857875"/>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a:solidFill>
                  <a:srgbClr val="627078"/>
                </a:solidFill>
              </a:defRPr>
            </a:defPPr>
            <a:lvl1pPr algn="ctr">
              <a:defRPr sz="1200" b="0">
                <a:solidFill>
                  <a:srgbClr val="627078"/>
                </a:solidFill>
              </a:defRPr>
            </a:lvl1pPr>
            <a:lvl2pPr algn="ctr">
              <a:defRPr sz="1200" b="0">
                <a:solidFill>
                  <a:srgbClr val="627078"/>
                </a:solidFill>
              </a:defRPr>
            </a:lvl2pPr>
            <a:lvl3pPr algn="ctr">
              <a:defRPr sz="1200" b="0">
                <a:solidFill>
                  <a:srgbClr val="627078"/>
                </a:solidFill>
              </a:defRPr>
            </a:lvl3pPr>
            <a:lvl4pPr algn="ctr">
              <a:defRPr sz="1200" b="0">
                <a:solidFill>
                  <a:srgbClr val="627078"/>
                </a:solidFill>
              </a:defRPr>
            </a:lvl4pPr>
            <a:lvl5pPr algn="ctr">
              <a:defRPr sz="1200" b="0">
                <a:solidFill>
                  <a:srgbClr val="627078"/>
                </a:solidFill>
              </a:defRPr>
            </a:lvl5pPr>
            <a:lvl6pPr algn="ctr">
              <a:defRPr sz="1200" b="0">
                <a:solidFill>
                  <a:srgbClr val="627078"/>
                </a:solidFill>
              </a:defRPr>
            </a:lvl6pPr>
            <a:lvl7pPr algn="ctr">
              <a:defRPr sz="1200" b="0">
                <a:solidFill>
                  <a:srgbClr val="627078"/>
                </a:solidFill>
              </a:defRPr>
            </a:lvl7pPr>
            <a:lvl8pPr algn="ctr">
              <a:defRPr sz="1200" b="0">
                <a:solidFill>
                  <a:srgbClr val="627078"/>
                </a:solidFill>
              </a:defRPr>
            </a:lvl8pPr>
            <a:lvl9pPr algn="ctr">
              <a:defRPr sz="1200" b="0">
                <a:solidFill>
                  <a:srgbClr val="627078"/>
                </a:solidFill>
              </a:defRPr>
            </a:lvl9pPr>
          </a:lstStyle>
          <a:p xmlns:a="http://schemas.openxmlformats.org/drawingml/2006/main">
            <a:pPr algn="ctr">
              <a:defRPr sz="1200" b="0">
                <a:solidFill>
                  <a:srgbClr val="627078"/>
                </a:solidFill>
              </a:defRPr>
            </a:pPr>
            <a:r>
              <a:rPr sz="1200" b="0">
                <a:solidFill>
                  <a:srgbClr val="627078"/>
                </a:solidFill>
              </a:rPr>
              <a:t>Constitution of India, Article 22(1)  •  Bar Council of India Rules, Chapter II</a:t>
            </a:r>
          </a:p>
        </p:txBody>
      </p:sp>
    </p:spTree>
    <p:extLst>
      <p:ext uri="{BB962C8B-B14F-4D97-AF65-F5344CB8AC3E}">
        <p14:creationId xmlns:p14="http://schemas.microsoft.com/office/powerpoint/2010/main" val="1365395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2026-10-25T13:25:14.8380000Z</dcterms:created>
  <dcterms:modified xsi:type="dcterms:W3CDTF">2026-10-25T13:25:14.8380000Z</dcterms:modified>
</coreProperties>
</file>